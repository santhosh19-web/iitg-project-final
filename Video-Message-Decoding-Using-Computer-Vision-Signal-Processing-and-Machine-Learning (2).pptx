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Lst>
  <p:sldSz cx="9144000" cy="5143500"/>
  <p:notesSz cx="5143500" cy="9144000"/>
  <p:embeddedFontLst>
    <p:embeddedFont>
      <p:font typeface="Host Grotesk Medium" panose="020B0504030402000203" pitchFamily="34" charset="0"/>
      <p:regular r:id="rId16"/>
    </p:embeddedFont>
    <p:embeddedFont>
      <p:font typeface="Host Grotesk Medium" panose="020B0504030402000203" pitchFamily="34" charset="-122"/>
      <p:regular r:id="rId17"/>
    </p:embeddedFont>
    <p:embeddedFont>
      <p:font typeface="Host Grotesk Medium" panose="020B0504030402000203" pitchFamily="34" charset="-120"/>
      <p:regular r:id="rId18"/>
    </p:embeddedFont>
    <p:embeddedFont>
      <p:font typeface="Roboto" panose="02000000000000000000" pitchFamily="34" charset="0"/>
      <p:regular r:id="rId19"/>
    </p:embeddedFont>
    <p:embeddedFont>
      <p:font typeface="Roboto" panose="02000000000000000000" pitchFamily="34" charset="-122"/>
      <p:regular r:id="rId20"/>
    </p:embeddedFont>
    <p:embeddedFont>
      <p:font typeface="Roboto" panose="02000000000000000000" pitchFamily="34" charset="-120"/>
      <p:regular r:id="rId21"/>
    </p:embeddedFont>
    <p:embeddedFont>
      <p:font typeface="Roboto Bold" panose="02000000000000000000" pitchFamily="34" charset="0"/>
      <p:bold r:id="rId22"/>
    </p:embeddedFont>
    <p:embeddedFont>
      <p:font typeface="Roboto Bold" panose="02000000000000000000" pitchFamily="34" charset="-122"/>
      <p:bold r:id="rId23"/>
    </p:embeddedFont>
    <p:embeddedFont>
      <p:font typeface="Roboto Bold" panose="02000000000000000000" pitchFamily="34" charset="-120"/>
      <p:bold r:id="rId24"/>
    </p:embeddedFont>
    <p:embeddedFont>
      <p:font typeface="Calibri" panose="020F0502020204030204" charset="0"/>
      <p:regular r:id="rId25"/>
      <p:bold r:id="rId26"/>
      <p:italic r:id="rId27"/>
      <p:boldItalic r:id="rId2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font" Target="fonts/font13.fntdata"/><Relationship Id="rId27" Type="http://schemas.openxmlformats.org/officeDocument/2006/relationships/font" Target="fonts/font12.fntdata"/><Relationship Id="rId26" Type="http://schemas.openxmlformats.org/officeDocument/2006/relationships/font" Target="fonts/font11.fntdata"/><Relationship Id="rId25" Type="http://schemas.openxmlformats.org/officeDocument/2006/relationships/font" Target="fonts/font10.fntdata"/><Relationship Id="rId24" Type="http://schemas.openxmlformats.org/officeDocument/2006/relationships/font" Target="fonts/font9.fntdata"/><Relationship Id="rId23" Type="http://schemas.openxmlformats.org/officeDocument/2006/relationships/font" Target="fonts/font8.fntdata"/><Relationship Id="rId22" Type="http://schemas.openxmlformats.org/officeDocument/2006/relationships/font" Target="fonts/font7.fntdata"/><Relationship Id="rId21" Type="http://schemas.openxmlformats.org/officeDocument/2006/relationships/font" Target="fonts/font6.fntdata"/><Relationship Id="rId20" Type="http://schemas.openxmlformats.org/officeDocument/2006/relationships/font" Target="fonts/font5.fntdata"/><Relationship Id="rId2" Type="http://schemas.openxmlformats.org/officeDocument/2006/relationships/theme" Target="theme/theme1.xml"/><Relationship Id="rId19" Type="http://schemas.openxmlformats.org/officeDocument/2006/relationships/font" Target="fonts/font4.fntdata"/><Relationship Id="rId18" Type="http://schemas.openxmlformats.org/officeDocument/2006/relationships/font" Target="fonts/font3.fntdata"/><Relationship Id="rId17" Type="http://schemas.openxmlformats.org/officeDocument/2006/relationships/font" Target="fonts/font2.fntdata"/><Relationship Id="rId16" Type="http://schemas.openxmlformats.org/officeDocument/2006/relationships/font" Target="fonts/font1.fntdata"/><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C7E0E7"/>
          </a:solidFill>
        </p:spPr>
      </p:sp>
      <p:sp>
        <p:nvSpPr>
          <p:cNvPr id="3" name="Shape 1"/>
          <p:cNvSpPr/>
          <p:nvPr/>
        </p:nvSpPr>
        <p:spPr>
          <a:xfrm>
            <a:off x="0" y="0"/>
            <a:ext cx="9144000" cy="5143500"/>
          </a:xfrm>
          <a:prstGeom prst="rect">
            <a:avLst/>
          </a:prstGeom>
          <a:solidFill>
            <a:srgbClr val="FAF9F5"/>
          </a:solidFill>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p:cNvPicPr>
            <a:picLocks noChangeAspect="1"/>
          </p:cNvPicPr>
          <p:nvPr/>
        </p:nvPicPr>
        <p:blipFill>
          <a:blip r:embed="rId1"/>
          <a:stretch>
            <a:fillRect/>
          </a:stretch>
        </p:blipFill>
        <p:spPr>
          <a:xfrm>
            <a:off x="0" y="0"/>
            <a:ext cx="3600450" cy="5143500"/>
          </a:xfrm>
          <a:custGeom>
            <a:avLst/>
            <a:gdLst/>
            <a:ahLst/>
            <a:cxnLst/>
            <a:rect l="0" t="0" r="100000" b="100000"/>
            <a:pathLst>
              <a:path w="100000" h="100000">
                <a:moveTo>
                  <a:pt x="0" y="0"/>
                </a:moveTo>
                <a:lnTo>
                  <a:pt x="100000" y="0"/>
                </a:lnTo>
                <a:lnTo>
                  <a:pt x="75000" y="100000"/>
                </a:lnTo>
                <a:lnTo>
                  <a:pt x="0" y="100000"/>
                </a:lnTo>
                <a:close/>
              </a:path>
            </a:pathLst>
          </a:custGeom>
        </p:spPr>
      </p:pic>
      <p:sp>
        <p:nvSpPr>
          <p:cNvPr id="3" name="Text 0"/>
          <p:cNvSpPr/>
          <p:nvPr/>
        </p:nvSpPr>
        <p:spPr>
          <a:xfrm>
            <a:off x="3925119" y="404217"/>
            <a:ext cx="4722763" cy="269900"/>
          </a:xfrm>
          <a:prstGeom prst="rect">
            <a:avLst/>
          </a:prstGeom>
          <a:noFill/>
        </p:spPr>
        <p:txBody>
          <a:bodyPr wrap="none" lIns="0" tIns="0" rIns="0" bIns="0" rtlCol="0" anchor="t"/>
          <a:lstStyle/>
          <a:p>
            <a:pPr marL="0" indent="0" algn="l">
              <a:lnSpc>
                <a:spcPct val="104000"/>
              </a:lnSpc>
              <a:buNone/>
            </a:pPr>
            <a:r>
              <a:rPr lang="en-US" sz="1700" dirty="0">
                <a:solidFill>
                  <a:srgbClr val="2E3C4E"/>
                </a:solidFill>
                <a:latin typeface="Host Grotesk Medium" panose="020B0504030402000203" pitchFamily="34" charset="0"/>
                <a:ea typeface="Host Grotesk Medium" panose="020B0504030402000203" pitchFamily="34" charset="-122"/>
                <a:cs typeface="Host Grotesk Medium" panose="020B0504030402000203" pitchFamily="34" charset="-120"/>
              </a:rPr>
              <a:t>Optical Camera Communication (OCC)</a:t>
            </a:r>
            <a:endParaRPr lang="en-US" sz="1700" dirty="0"/>
          </a:p>
        </p:txBody>
      </p:sp>
      <p:sp>
        <p:nvSpPr>
          <p:cNvPr id="4" name="Text 1"/>
          <p:cNvSpPr/>
          <p:nvPr/>
        </p:nvSpPr>
        <p:spPr>
          <a:xfrm>
            <a:off x="3925119" y="753070"/>
            <a:ext cx="4722763" cy="1117550"/>
          </a:xfrm>
          <a:prstGeom prst="rect">
            <a:avLst/>
          </a:prstGeom>
          <a:noFill/>
        </p:spPr>
        <p:txBody>
          <a:bodyPr wrap="square" lIns="0" tIns="0" rIns="0" bIns="0" rtlCol="0" anchor="t">
            <a:normAutofit/>
          </a:bodyPr>
          <a:lstStyle/>
          <a:p>
            <a:pPr marL="0" indent="0" algn="l">
              <a:lnSpc>
                <a:spcPct val="104000"/>
              </a:lnSpc>
              <a:buNone/>
            </a:pPr>
            <a:r>
              <a:rPr lang="en-US" sz="2300" dirty="0">
                <a:solidFill>
                  <a:srgbClr val="2E3C4E"/>
                </a:solidFill>
                <a:latin typeface="Host Grotesk Medium" panose="020B0504030402000203" pitchFamily="34" charset="0"/>
                <a:ea typeface="Host Grotesk Medium" panose="020B0504030402000203" pitchFamily="34" charset="-122"/>
                <a:cs typeface="Host Grotesk Medium" panose="020B0504030402000203" pitchFamily="34" charset="-120"/>
              </a:rPr>
              <a:t>Video Message Decoding Using Computer Vision, Signal Processing &amp; Machine Learning</a:t>
            </a:r>
            <a:endParaRPr lang="en-US" sz="2300" dirty="0"/>
          </a:p>
        </p:txBody>
      </p:sp>
      <p:sp>
        <p:nvSpPr>
          <p:cNvPr id="5" name="Shape 2"/>
          <p:cNvSpPr/>
          <p:nvPr/>
        </p:nvSpPr>
        <p:spPr>
          <a:xfrm>
            <a:off x="3925119" y="1949574"/>
            <a:ext cx="2335039" cy="452884"/>
          </a:xfrm>
          <a:prstGeom prst="roundRect">
            <a:avLst>
              <a:gd name="adj" fmla="val 8012"/>
            </a:avLst>
          </a:prstGeom>
          <a:solidFill>
            <a:srgbClr val="D9EDF2"/>
          </a:solidFill>
          <a:ln w="4763">
            <a:solidFill>
              <a:srgbClr val="BFD3D8"/>
            </a:solidFill>
            <a:prstDash val="solid"/>
          </a:ln>
        </p:spPr>
      </p:sp>
      <p:sp>
        <p:nvSpPr>
          <p:cNvPr id="6" name="Text 3"/>
          <p:cNvSpPr/>
          <p:nvPr/>
        </p:nvSpPr>
        <p:spPr>
          <a:xfrm>
            <a:off x="4016201" y="2040657"/>
            <a:ext cx="2152873" cy="134913"/>
          </a:xfrm>
          <a:prstGeom prst="rect">
            <a:avLst/>
          </a:prstGeom>
          <a:noFill/>
        </p:spPr>
        <p:txBody>
          <a:bodyPr wrap="none" lIns="0" tIns="0" rIns="0" bIns="0" rtlCol="0" anchor="t"/>
          <a:lstStyle/>
          <a:p>
            <a:pPr marL="0" indent="0" algn="l">
              <a:lnSpc>
                <a:spcPct val="104000"/>
              </a:lnSpc>
              <a:buNone/>
            </a:pPr>
            <a:r>
              <a:rPr lang="en-US" sz="85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AI/ML Research Project</a:t>
            </a:r>
            <a:endParaRPr lang="en-US" sz="850" dirty="0"/>
          </a:p>
        </p:txBody>
      </p:sp>
      <p:sp>
        <p:nvSpPr>
          <p:cNvPr id="7" name="Text 4"/>
          <p:cNvSpPr/>
          <p:nvPr/>
        </p:nvSpPr>
        <p:spPr>
          <a:xfrm>
            <a:off x="4016201" y="2207121"/>
            <a:ext cx="2152873" cy="104254"/>
          </a:xfrm>
          <a:prstGeom prst="rect">
            <a:avLst/>
          </a:prstGeom>
          <a:noFill/>
        </p:spPr>
        <p:txBody>
          <a:bodyPr wrap="none" lIns="0" tIns="0" rIns="0" bIns="0" rtlCol="0" anchor="t"/>
          <a:lstStyle/>
          <a:p>
            <a:pPr marL="0" indent="0" algn="l">
              <a:lnSpc>
                <a:spcPct val="101000"/>
              </a:lnSpc>
              <a:buNone/>
            </a:pPr>
            <a:r>
              <a:rPr lang="en-US" sz="650" dirty="0">
                <a:solidFill>
                  <a:srgbClr val="384653"/>
                </a:solidFill>
                <a:latin typeface="Roboto" panose="02000000000000000000" pitchFamily="34" charset="0"/>
                <a:ea typeface="Roboto" panose="02000000000000000000" pitchFamily="34" charset="-122"/>
                <a:cs typeface="Roboto" panose="02000000000000000000" pitchFamily="34" charset="-120"/>
              </a:rPr>
              <a:t>4-Week Online Internship</a:t>
            </a:r>
            <a:endParaRPr lang="en-US" sz="650" dirty="0"/>
          </a:p>
        </p:txBody>
      </p:sp>
      <p:sp>
        <p:nvSpPr>
          <p:cNvPr id="8" name="Shape 5"/>
          <p:cNvSpPr/>
          <p:nvPr/>
        </p:nvSpPr>
        <p:spPr>
          <a:xfrm>
            <a:off x="6312768" y="1949574"/>
            <a:ext cx="2335113" cy="452884"/>
          </a:xfrm>
          <a:prstGeom prst="roundRect">
            <a:avLst>
              <a:gd name="adj" fmla="val 8012"/>
            </a:avLst>
          </a:prstGeom>
          <a:solidFill>
            <a:srgbClr val="D9EDF2"/>
          </a:solidFill>
          <a:ln w="4763">
            <a:solidFill>
              <a:srgbClr val="BFD3D8"/>
            </a:solidFill>
            <a:prstDash val="solid"/>
          </a:ln>
        </p:spPr>
      </p:sp>
      <p:sp>
        <p:nvSpPr>
          <p:cNvPr id="9" name="Text 6"/>
          <p:cNvSpPr/>
          <p:nvPr/>
        </p:nvSpPr>
        <p:spPr>
          <a:xfrm>
            <a:off x="6403851" y="2040657"/>
            <a:ext cx="2152948" cy="134913"/>
          </a:xfrm>
          <a:prstGeom prst="rect">
            <a:avLst/>
          </a:prstGeom>
          <a:noFill/>
        </p:spPr>
        <p:txBody>
          <a:bodyPr wrap="none" lIns="0" tIns="0" rIns="0" bIns="0" rtlCol="0" anchor="t"/>
          <a:lstStyle/>
          <a:p>
            <a:pPr marL="0" indent="0" algn="l">
              <a:lnSpc>
                <a:spcPct val="104000"/>
              </a:lnSpc>
              <a:buNone/>
            </a:pPr>
            <a:r>
              <a:rPr lang="en-US" sz="85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TIH, IIT Guwahati</a:t>
            </a:r>
            <a:endParaRPr lang="en-US" sz="850" dirty="0"/>
          </a:p>
        </p:txBody>
      </p:sp>
      <p:sp>
        <p:nvSpPr>
          <p:cNvPr id="10" name="Text 7"/>
          <p:cNvSpPr/>
          <p:nvPr/>
        </p:nvSpPr>
        <p:spPr>
          <a:xfrm>
            <a:off x="6403851" y="2207121"/>
            <a:ext cx="2152948" cy="104254"/>
          </a:xfrm>
          <a:prstGeom prst="rect">
            <a:avLst/>
          </a:prstGeom>
          <a:noFill/>
        </p:spPr>
        <p:txBody>
          <a:bodyPr wrap="none" lIns="0" tIns="0" rIns="0" bIns="0" rtlCol="0" anchor="t"/>
          <a:lstStyle/>
          <a:p>
            <a:pPr marL="0" indent="0" algn="l">
              <a:lnSpc>
                <a:spcPct val="101000"/>
              </a:lnSpc>
              <a:buNone/>
            </a:pPr>
            <a:r>
              <a:rPr lang="en-US" sz="650" dirty="0">
                <a:solidFill>
                  <a:srgbClr val="384653"/>
                </a:solidFill>
                <a:latin typeface="Roboto" panose="02000000000000000000" pitchFamily="34" charset="0"/>
                <a:ea typeface="Roboto" panose="02000000000000000000" pitchFamily="34" charset="-122"/>
                <a:cs typeface="Roboto" panose="02000000000000000000" pitchFamily="34" charset="-120"/>
              </a:rPr>
              <a:t>Project Supervisor: T. Vamsikrishna</a:t>
            </a:r>
            <a:endParaRPr lang="en-US" sz="650" dirty="0"/>
          </a:p>
        </p:txBody>
      </p:sp>
      <p:sp>
        <p:nvSpPr>
          <p:cNvPr id="11" name="Shape 8"/>
          <p:cNvSpPr/>
          <p:nvPr/>
        </p:nvSpPr>
        <p:spPr>
          <a:xfrm>
            <a:off x="3925119" y="2455069"/>
            <a:ext cx="4722763" cy="452884"/>
          </a:xfrm>
          <a:prstGeom prst="roundRect">
            <a:avLst>
              <a:gd name="adj" fmla="val 8012"/>
            </a:avLst>
          </a:prstGeom>
          <a:solidFill>
            <a:srgbClr val="D9EDF2"/>
          </a:solidFill>
          <a:ln w="4763">
            <a:solidFill>
              <a:srgbClr val="BFD3D8"/>
            </a:solidFill>
            <a:prstDash val="solid"/>
          </a:ln>
        </p:spPr>
      </p:sp>
      <p:sp>
        <p:nvSpPr>
          <p:cNvPr id="12" name="Text 9"/>
          <p:cNvSpPr/>
          <p:nvPr/>
        </p:nvSpPr>
        <p:spPr>
          <a:xfrm>
            <a:off x="4016201" y="2546152"/>
            <a:ext cx="4540597" cy="134913"/>
          </a:xfrm>
          <a:prstGeom prst="rect">
            <a:avLst/>
          </a:prstGeom>
          <a:noFill/>
        </p:spPr>
        <p:txBody>
          <a:bodyPr wrap="none" lIns="0" tIns="0" rIns="0" bIns="0" rtlCol="0" anchor="t"/>
          <a:lstStyle/>
          <a:p>
            <a:pPr marL="0" indent="0" algn="l">
              <a:lnSpc>
                <a:spcPct val="104000"/>
              </a:lnSpc>
              <a:buNone/>
            </a:pPr>
            <a:r>
              <a:rPr lang="en-US" sz="85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Faculty/Domain Expert</a:t>
            </a:r>
            <a:endParaRPr lang="en-US" sz="850" dirty="0"/>
          </a:p>
        </p:txBody>
      </p:sp>
      <p:sp>
        <p:nvSpPr>
          <p:cNvPr id="13" name="Text 10"/>
          <p:cNvSpPr/>
          <p:nvPr/>
        </p:nvSpPr>
        <p:spPr>
          <a:xfrm>
            <a:off x="4016201" y="2712616"/>
            <a:ext cx="4540597" cy="104254"/>
          </a:xfrm>
          <a:prstGeom prst="rect">
            <a:avLst/>
          </a:prstGeom>
          <a:noFill/>
        </p:spPr>
        <p:txBody>
          <a:bodyPr wrap="none" lIns="0" tIns="0" rIns="0" bIns="0" rtlCol="0" anchor="t"/>
          <a:lstStyle/>
          <a:p>
            <a:pPr marL="0" indent="0" algn="l">
              <a:lnSpc>
                <a:spcPct val="101000"/>
              </a:lnSpc>
              <a:buNone/>
            </a:pPr>
            <a:r>
              <a:rPr lang="en-US" sz="650" dirty="0">
                <a:solidFill>
                  <a:srgbClr val="384653"/>
                </a:solidFill>
                <a:latin typeface="Roboto" panose="02000000000000000000" pitchFamily="34" charset="0"/>
                <a:ea typeface="Roboto" panose="02000000000000000000" pitchFamily="34" charset="-122"/>
                <a:cs typeface="Roboto" panose="02000000000000000000" pitchFamily="34" charset="-120"/>
              </a:rPr>
              <a:t>Dr. AVR Murthy, OCBL, DIAT</a:t>
            </a:r>
            <a:endParaRPr lang="en-US" sz="650" dirty="0"/>
          </a:p>
        </p:txBody>
      </p:sp>
      <p:pic>
        <p:nvPicPr>
          <p:cNvPr id="14" name="Image 1" descr="preencoded.png"/>
          <p:cNvPicPr>
            <a:picLocks noChangeAspect="1"/>
          </p:cNvPicPr>
          <p:nvPr/>
        </p:nvPicPr>
        <p:blipFill>
          <a:blip r:embed="rId2"/>
          <a:stretch>
            <a:fillRect/>
          </a:stretch>
        </p:blipFill>
        <p:spPr>
          <a:xfrm>
            <a:off x="3925119" y="2967112"/>
            <a:ext cx="4722763" cy="1772171"/>
          </a:xfrm>
          <a:prstGeom prst="rect">
            <a:avLst/>
          </a:prstGeom>
        </p:spPr>
      </p:pic>
      <p:sp>
        <p:nvSpPr>
          <p:cNvPr id="15" name="Text 11"/>
          <p:cNvSpPr/>
          <p:nvPr/>
        </p:nvSpPr>
        <p:spPr>
          <a:xfrm>
            <a:off x="7741044" y="4309072"/>
            <a:ext cx="712323" cy="137220"/>
          </a:xfrm>
          <a:prstGeom prst="rect">
            <a:avLst/>
          </a:prstGeom>
          <a:noFill/>
        </p:spPr>
        <p:txBody>
          <a:bodyPr wrap="none" lIns="0" tIns="0" rIns="0" bIns="0" rtlCol="0" anchor="t"/>
          <a:lstStyle/>
          <a:p>
            <a:pPr marL="0" indent="0" algn="ctr">
              <a:lnSpc>
                <a:spcPct val="104000"/>
              </a:lnSpc>
              <a:buNone/>
            </a:pPr>
            <a:r>
              <a:rPr lang="en-US" sz="85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Binary Data</a:t>
            </a:r>
            <a:endParaRPr lang="en-US" sz="850" dirty="0"/>
          </a:p>
        </p:txBody>
      </p:sp>
      <p:sp>
        <p:nvSpPr>
          <p:cNvPr id="16" name="Text 12"/>
          <p:cNvSpPr/>
          <p:nvPr/>
        </p:nvSpPr>
        <p:spPr>
          <a:xfrm>
            <a:off x="6843322" y="4309072"/>
            <a:ext cx="712323" cy="137220"/>
          </a:xfrm>
          <a:prstGeom prst="rect">
            <a:avLst/>
          </a:prstGeom>
          <a:noFill/>
        </p:spPr>
        <p:txBody>
          <a:bodyPr wrap="none" lIns="0" tIns="0" rIns="0" bIns="0" rtlCol="0" anchor="t"/>
          <a:lstStyle/>
          <a:p>
            <a:pPr marL="0" indent="0" algn="ctr">
              <a:lnSpc>
                <a:spcPct val="104000"/>
              </a:lnSpc>
              <a:buNone/>
            </a:pPr>
            <a:r>
              <a:rPr lang="en-US" sz="85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Signal</a:t>
            </a:r>
            <a:endParaRPr lang="en-US" sz="850" dirty="0"/>
          </a:p>
        </p:txBody>
      </p:sp>
      <p:sp>
        <p:nvSpPr>
          <p:cNvPr id="17" name="Text 13"/>
          <p:cNvSpPr/>
          <p:nvPr/>
        </p:nvSpPr>
        <p:spPr>
          <a:xfrm>
            <a:off x="5950479" y="4309072"/>
            <a:ext cx="712323" cy="137220"/>
          </a:xfrm>
          <a:prstGeom prst="rect">
            <a:avLst/>
          </a:prstGeom>
          <a:noFill/>
        </p:spPr>
        <p:txBody>
          <a:bodyPr wrap="none" lIns="0" tIns="0" rIns="0" bIns="0" rtlCol="0" anchor="t"/>
          <a:lstStyle/>
          <a:p>
            <a:pPr marL="0" indent="0" algn="ctr">
              <a:lnSpc>
                <a:spcPct val="104000"/>
              </a:lnSpc>
              <a:buNone/>
            </a:pPr>
            <a:r>
              <a:rPr lang="en-US" sz="85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Video</a:t>
            </a:r>
            <a:endParaRPr lang="en-US" sz="850" dirty="0"/>
          </a:p>
        </p:txBody>
      </p:sp>
      <p:sp>
        <p:nvSpPr>
          <p:cNvPr id="18" name="Text 14"/>
          <p:cNvSpPr/>
          <p:nvPr/>
        </p:nvSpPr>
        <p:spPr>
          <a:xfrm>
            <a:off x="5057635" y="4309072"/>
            <a:ext cx="712323" cy="137220"/>
          </a:xfrm>
          <a:prstGeom prst="rect">
            <a:avLst/>
          </a:prstGeom>
          <a:noFill/>
        </p:spPr>
        <p:txBody>
          <a:bodyPr wrap="none" lIns="0" tIns="0" rIns="0" bIns="0" rtlCol="0" anchor="t"/>
          <a:lstStyle/>
          <a:p>
            <a:pPr marL="0" indent="0" algn="ctr">
              <a:lnSpc>
                <a:spcPct val="104000"/>
              </a:lnSpc>
              <a:buNone/>
            </a:pPr>
            <a:r>
              <a:rPr lang="en-US" sz="85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Camera</a:t>
            </a:r>
            <a:endParaRPr lang="en-US" sz="850" dirty="0"/>
          </a:p>
        </p:txBody>
      </p:sp>
      <p:sp>
        <p:nvSpPr>
          <p:cNvPr id="19" name="Text 15"/>
          <p:cNvSpPr/>
          <p:nvPr/>
        </p:nvSpPr>
        <p:spPr>
          <a:xfrm>
            <a:off x="4145276" y="4309072"/>
            <a:ext cx="712323" cy="137220"/>
          </a:xfrm>
          <a:prstGeom prst="rect">
            <a:avLst/>
          </a:prstGeom>
          <a:noFill/>
        </p:spPr>
        <p:txBody>
          <a:bodyPr wrap="none" lIns="0" tIns="0" rIns="0" bIns="0" rtlCol="0" anchor="t"/>
          <a:lstStyle/>
          <a:p>
            <a:pPr marL="0" indent="0" algn="ctr">
              <a:lnSpc>
                <a:spcPct val="104000"/>
              </a:lnSpc>
              <a:buNone/>
            </a:pPr>
            <a:r>
              <a:rPr lang="en-US" sz="85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LED Source</a:t>
            </a:r>
            <a:endParaRPr lang="en-US" sz="850" dirty="0"/>
          </a:p>
        </p:txBody>
      </p:sp>
      <p:sp>
        <p:nvSpPr>
          <p:cNvPr id="20" name="Text Box 19"/>
          <p:cNvSpPr txBox="1"/>
          <p:nvPr/>
        </p:nvSpPr>
        <p:spPr>
          <a:xfrm>
            <a:off x="5530215" y="2520950"/>
            <a:ext cx="3550285" cy="287020"/>
          </a:xfrm>
          <a:prstGeom prst="rect">
            <a:avLst/>
          </a:prstGeom>
          <a:noFill/>
        </p:spPr>
        <p:txBody>
          <a:bodyPr wrap="square" rtlCol="0">
            <a:noAutofit/>
          </a:bodyPr>
          <a:p>
            <a:r>
              <a:rPr lang="en-US"/>
              <a:t>Presentation by: Santhosh Reddy</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406524"/>
            <a:ext cx="8151763" cy="249138"/>
          </a:xfrm>
          <a:prstGeom prst="rect">
            <a:avLst/>
          </a:prstGeom>
          <a:noFill/>
        </p:spPr>
        <p:txBody>
          <a:bodyPr wrap="none" lIns="0" tIns="0" rIns="0" bIns="0" rtlCol="0" anchor="t"/>
          <a:lstStyle/>
          <a:p>
            <a:pPr marL="0" indent="0" algn="l">
              <a:lnSpc>
                <a:spcPct val="104000"/>
              </a:lnSpc>
              <a:buNone/>
            </a:pPr>
            <a:r>
              <a:rPr lang="en-US" sz="1550" dirty="0">
                <a:solidFill>
                  <a:srgbClr val="2E3C4E"/>
                </a:solidFill>
                <a:latin typeface="Host Grotesk Medium" panose="020B0504030402000203" pitchFamily="34" charset="0"/>
                <a:ea typeface="Host Grotesk Medium" panose="020B0504030402000203" pitchFamily="34" charset="-122"/>
                <a:cs typeface="Host Grotesk Medium" panose="020B0504030402000203" pitchFamily="34" charset="-120"/>
              </a:rPr>
              <a:t>Problem Statement &amp; Motivation</a:t>
            </a:r>
            <a:endParaRPr lang="en-US" sz="1550" dirty="0"/>
          </a:p>
        </p:txBody>
      </p:sp>
      <p:sp>
        <p:nvSpPr>
          <p:cNvPr id="3" name="Shape 1"/>
          <p:cNvSpPr/>
          <p:nvPr/>
        </p:nvSpPr>
        <p:spPr>
          <a:xfrm>
            <a:off x="438671" y="722933"/>
            <a:ext cx="4093518" cy="1002581"/>
          </a:xfrm>
          <a:prstGeom prst="roundRect">
            <a:avLst>
              <a:gd name="adj" fmla="val 5727"/>
            </a:avLst>
          </a:prstGeom>
          <a:solidFill>
            <a:srgbClr val="95CCDA"/>
          </a:solidFill>
        </p:spPr>
      </p:sp>
      <p:sp>
        <p:nvSpPr>
          <p:cNvPr id="4" name="Text 2"/>
          <p:cNvSpPr/>
          <p:nvPr/>
        </p:nvSpPr>
        <p:spPr>
          <a:xfrm>
            <a:off x="518368" y="767730"/>
            <a:ext cx="3934123" cy="124644"/>
          </a:xfrm>
          <a:prstGeom prst="rect">
            <a:avLst/>
          </a:prstGeom>
          <a:noFill/>
        </p:spPr>
        <p:txBody>
          <a:bodyPr wrap="none" lIns="0" tIns="0" rIns="0" bIns="0" rtlCol="0" anchor="t"/>
          <a:lstStyle/>
          <a:p>
            <a:pPr marL="0" indent="0" algn="l">
              <a:lnSpc>
                <a:spcPct val="104000"/>
              </a:lnSpc>
              <a:buNone/>
            </a:pPr>
            <a:r>
              <a:rPr lang="en-US" sz="750" dirty="0">
                <a:solidFill>
                  <a:srgbClr val="2E3C4E"/>
                </a:solidFill>
                <a:latin typeface="Host Grotesk Medium" panose="020B0504030402000203" pitchFamily="34" charset="0"/>
                <a:ea typeface="Host Grotesk Medium" panose="020B0504030402000203" pitchFamily="34" charset="-122"/>
                <a:cs typeface="Host Grotesk Medium" panose="020B0504030402000203" pitchFamily="34" charset="-120"/>
              </a:rPr>
              <a:t>Problem Statement</a:t>
            </a:r>
            <a:endParaRPr lang="en-US" sz="750" dirty="0"/>
          </a:p>
        </p:txBody>
      </p:sp>
      <p:sp>
        <p:nvSpPr>
          <p:cNvPr id="5" name="Text 3"/>
          <p:cNvSpPr/>
          <p:nvPr/>
        </p:nvSpPr>
        <p:spPr>
          <a:xfrm>
            <a:off x="518368" y="937171"/>
            <a:ext cx="3934123" cy="507653"/>
          </a:xfrm>
          <a:prstGeom prst="rect">
            <a:avLst/>
          </a:prstGeom>
          <a:noFill/>
        </p:spPr>
        <p:txBody>
          <a:bodyPr wrap="square" lIns="0" tIns="0" rIns="0" bIns="0" rtlCol="0" anchor="t">
            <a:normAutofit/>
          </a:bodyPr>
          <a:lstStyle/>
          <a:p>
            <a:pPr marL="0" indent="0" algn="l">
              <a:lnSpc>
                <a:spcPct val="98000"/>
              </a:lnSpc>
              <a:spcAft>
                <a:spcPts val="300"/>
              </a:spcAft>
              <a:buNone/>
            </a:pPr>
            <a:r>
              <a:rPr lang="en-US" sz="600" dirty="0">
                <a:solidFill>
                  <a:srgbClr val="000000"/>
                </a:solidFill>
                <a:latin typeface="Roboto" panose="02000000000000000000" pitchFamily="34" charset="0"/>
                <a:ea typeface="Roboto" panose="02000000000000000000" pitchFamily="34" charset="-122"/>
                <a:cs typeface="Roboto" panose="02000000000000000000" pitchFamily="34" charset="-120"/>
              </a:rPr>
              <a:t>Optical Camera Communication uses variations in the intensity of a light source to transmit digital information. A standard camera captures these variations as video frames.</a:t>
            </a:r>
            <a:endParaRPr lang="en-US" sz="600" dirty="0"/>
          </a:p>
          <a:p>
            <a:pPr marL="0" indent="0" algn="l">
              <a:lnSpc>
                <a:spcPct val="98000"/>
              </a:lnSpc>
              <a:buNone/>
            </a:pPr>
            <a:r>
              <a:rPr lang="en-US" sz="600" dirty="0">
                <a:solidFill>
                  <a:srgbClr val="000000"/>
                </a:solidFill>
                <a:latin typeface="Roboto" panose="02000000000000000000" pitchFamily="34" charset="0"/>
                <a:ea typeface="Roboto" panose="02000000000000000000" pitchFamily="34" charset="-122"/>
                <a:cs typeface="Roboto" panose="02000000000000000000" pitchFamily="34" charset="-120"/>
              </a:rPr>
              <a:t>In this project, the videos contain On-Off Keying (OOK) encoded information. The goal is to recover the changing light intensity from the video, synchronize the signal with transmitted symbols, decode the binary sequence, and reconstruct the original message.</a:t>
            </a:r>
            <a:endParaRPr lang="en-US" sz="600" dirty="0"/>
          </a:p>
        </p:txBody>
      </p:sp>
      <p:sp>
        <p:nvSpPr>
          <p:cNvPr id="6" name="Text 4"/>
          <p:cNvSpPr/>
          <p:nvPr/>
        </p:nvSpPr>
        <p:spPr>
          <a:xfrm>
            <a:off x="4674022" y="767730"/>
            <a:ext cx="3978622" cy="124644"/>
          </a:xfrm>
          <a:prstGeom prst="rect">
            <a:avLst/>
          </a:prstGeom>
          <a:noFill/>
        </p:spPr>
        <p:txBody>
          <a:bodyPr wrap="none" lIns="0" tIns="0" rIns="0" bIns="0" rtlCol="0" anchor="t"/>
          <a:lstStyle/>
          <a:p>
            <a:pPr marL="0" indent="0" algn="l">
              <a:lnSpc>
                <a:spcPct val="104000"/>
              </a:lnSpc>
              <a:buNone/>
            </a:pPr>
            <a:r>
              <a:rPr lang="en-US" sz="750" dirty="0">
                <a:solidFill>
                  <a:srgbClr val="2E3C4E"/>
                </a:solidFill>
                <a:latin typeface="Host Grotesk Medium" panose="020B0504030402000203" pitchFamily="34" charset="0"/>
                <a:ea typeface="Host Grotesk Medium" panose="020B0504030402000203" pitchFamily="34" charset="-122"/>
                <a:cs typeface="Host Grotesk Medium" panose="020B0504030402000203" pitchFamily="34" charset="-120"/>
              </a:rPr>
              <a:t>Main Challenge</a:t>
            </a:r>
            <a:endParaRPr lang="en-US" sz="750" dirty="0"/>
          </a:p>
        </p:txBody>
      </p:sp>
      <p:sp>
        <p:nvSpPr>
          <p:cNvPr id="7" name="Text 5"/>
          <p:cNvSpPr/>
          <p:nvPr/>
        </p:nvSpPr>
        <p:spPr>
          <a:xfrm>
            <a:off x="4674022" y="937171"/>
            <a:ext cx="4435822" cy="93464"/>
          </a:xfrm>
          <a:prstGeom prst="rect">
            <a:avLst/>
          </a:prstGeom>
          <a:noFill/>
        </p:spPr>
        <p:txBody>
          <a:bodyPr wrap="none" lIns="0" tIns="0" rIns="0" bIns="0" rtlCol="0" anchor="t"/>
          <a:lstStyle/>
          <a:p>
            <a:pPr marL="0" indent="0" algn="l">
              <a:lnSpc>
                <a:spcPct val="98000"/>
              </a:lnSpc>
              <a:buNone/>
            </a:pPr>
            <a:r>
              <a:rPr lang="en-US" sz="600" dirty="0">
                <a:solidFill>
                  <a:srgbClr val="384653"/>
                </a:solidFill>
                <a:latin typeface="Roboto" panose="02000000000000000000" pitchFamily="34" charset="0"/>
                <a:ea typeface="Roboto" panose="02000000000000000000" pitchFamily="34" charset="-122"/>
                <a:cs typeface="Roboto" panose="02000000000000000000" pitchFamily="34" charset="-120"/>
              </a:rPr>
              <a:t>The captured signal can be affected by:</a:t>
            </a:r>
            <a:endParaRPr lang="en-US" sz="600" dirty="0"/>
          </a:p>
        </p:txBody>
      </p:sp>
      <p:sp>
        <p:nvSpPr>
          <p:cNvPr id="8" name="Text 6"/>
          <p:cNvSpPr/>
          <p:nvPr/>
        </p:nvSpPr>
        <p:spPr>
          <a:xfrm>
            <a:off x="4674022" y="1070967"/>
            <a:ext cx="3978622" cy="638919"/>
          </a:xfrm>
          <a:prstGeom prst="rect">
            <a:avLst/>
          </a:prstGeom>
          <a:noFill/>
        </p:spPr>
        <p:txBody>
          <a:bodyPr wrap="square" lIns="0" tIns="31898" rIns="0" bIns="0" rtlCol="0" anchor="t">
            <a:normAutofit/>
          </a:bodyPr>
          <a:lstStyle/>
          <a:p>
            <a:pPr marL="121920" indent="-121920" algn="l">
              <a:lnSpc>
                <a:spcPct val="98000"/>
              </a:lnSpc>
              <a:buSzPct val="100000"/>
              <a:buChar char="•"/>
            </a:pPr>
            <a:r>
              <a:rPr lang="en-US" sz="600" dirty="0">
                <a:solidFill>
                  <a:srgbClr val="384653"/>
                </a:solidFill>
                <a:latin typeface="Roboto" panose="02000000000000000000" pitchFamily="34" charset="0"/>
                <a:ea typeface="Roboto" panose="02000000000000000000" pitchFamily="34" charset="-122"/>
                <a:cs typeface="Roboto" panose="02000000000000000000" pitchFamily="34" charset="-120"/>
              </a:rPr>
              <a:t>Camera motion</a:t>
            </a:r>
            <a:endParaRPr lang="en-US" sz="600" dirty="0"/>
          </a:p>
          <a:p>
            <a:pPr marL="121920" indent="-121920" algn="l">
              <a:lnSpc>
                <a:spcPct val="98000"/>
              </a:lnSpc>
              <a:buSzPct val="100000"/>
              <a:buChar char="•"/>
            </a:pPr>
            <a:r>
              <a:rPr lang="en-US" sz="600" dirty="0">
                <a:solidFill>
                  <a:srgbClr val="384653"/>
                </a:solidFill>
                <a:latin typeface="Roboto" panose="02000000000000000000" pitchFamily="34" charset="0"/>
                <a:ea typeface="Roboto" panose="02000000000000000000" pitchFamily="34" charset="-122"/>
                <a:cs typeface="Roboto" panose="02000000000000000000" pitchFamily="34" charset="-120"/>
              </a:rPr>
              <a:t>Ambient illumination</a:t>
            </a:r>
            <a:endParaRPr lang="en-US" sz="600" dirty="0"/>
          </a:p>
          <a:p>
            <a:pPr marL="121920" indent="-121920" algn="l">
              <a:lnSpc>
                <a:spcPct val="98000"/>
              </a:lnSpc>
              <a:buSzPct val="100000"/>
              <a:buChar char="•"/>
            </a:pPr>
            <a:r>
              <a:rPr lang="en-US" sz="600" dirty="0">
                <a:solidFill>
                  <a:srgbClr val="384653"/>
                </a:solidFill>
                <a:latin typeface="Roboto" panose="02000000000000000000" pitchFamily="34" charset="0"/>
                <a:ea typeface="Roboto" panose="02000000000000000000" pitchFamily="34" charset="-122"/>
                <a:cs typeface="Roboto" panose="02000000000000000000" pitchFamily="34" charset="-120"/>
              </a:rPr>
              <a:t>Image/video noise</a:t>
            </a:r>
            <a:endParaRPr lang="en-US" sz="600" dirty="0"/>
          </a:p>
          <a:p>
            <a:pPr marL="121920" indent="-121920" algn="l">
              <a:lnSpc>
                <a:spcPct val="98000"/>
              </a:lnSpc>
              <a:buSzPct val="100000"/>
              <a:buChar char="•"/>
            </a:pPr>
            <a:r>
              <a:rPr lang="en-US" sz="600" dirty="0">
                <a:solidFill>
                  <a:srgbClr val="384653"/>
                </a:solidFill>
                <a:latin typeface="Roboto" panose="02000000000000000000" pitchFamily="34" charset="0"/>
                <a:ea typeface="Roboto" panose="02000000000000000000" pitchFamily="34" charset="-122"/>
                <a:cs typeface="Roboto" panose="02000000000000000000" pitchFamily="34" charset="-120"/>
              </a:rPr>
              <a:t>ROI/transmitter localization</a:t>
            </a:r>
            <a:endParaRPr lang="en-US" sz="600" dirty="0"/>
          </a:p>
          <a:p>
            <a:pPr marL="121920" indent="-121920" algn="l">
              <a:lnSpc>
                <a:spcPct val="98000"/>
              </a:lnSpc>
              <a:buSzPct val="100000"/>
              <a:buChar char="•"/>
            </a:pPr>
            <a:r>
              <a:rPr lang="en-US" sz="600" dirty="0">
                <a:solidFill>
                  <a:srgbClr val="384653"/>
                </a:solidFill>
                <a:latin typeface="Roboto" panose="02000000000000000000" pitchFamily="34" charset="0"/>
                <a:ea typeface="Roboto" panose="02000000000000000000" pitchFamily="34" charset="-122"/>
                <a:cs typeface="Roboto" panose="02000000000000000000" pitchFamily="34" charset="-120"/>
              </a:rPr>
              <a:t>Timing and synchronization errors</a:t>
            </a:r>
            <a:endParaRPr lang="en-US" sz="600" dirty="0"/>
          </a:p>
          <a:p>
            <a:pPr marL="121920" indent="-121920" algn="l">
              <a:lnSpc>
                <a:spcPct val="98000"/>
              </a:lnSpc>
              <a:buSzPct val="100000"/>
              <a:buChar char="•"/>
            </a:pPr>
            <a:r>
              <a:rPr lang="en-US" sz="600" dirty="0">
                <a:solidFill>
                  <a:srgbClr val="384653"/>
                </a:solidFill>
                <a:latin typeface="Roboto" panose="02000000000000000000" pitchFamily="34" charset="0"/>
                <a:ea typeface="Roboto" panose="02000000000000000000" pitchFamily="34" charset="-122"/>
                <a:cs typeface="Roboto" panose="02000000000000000000" pitchFamily="34" charset="-120"/>
              </a:rPr>
              <a:t>Weak ON/OFF intensity differences</a:t>
            </a:r>
            <a:endParaRPr lang="en-US" sz="600" dirty="0"/>
          </a:p>
        </p:txBody>
      </p:sp>
      <p:pic>
        <p:nvPicPr>
          <p:cNvPr id="9" name="Image 0" descr="preencoded.png"/>
          <p:cNvPicPr>
            <a:picLocks noChangeAspect="1"/>
          </p:cNvPicPr>
          <p:nvPr/>
        </p:nvPicPr>
        <p:blipFill>
          <a:blip r:embed="rId1"/>
          <a:stretch>
            <a:fillRect/>
          </a:stretch>
        </p:blipFill>
        <p:spPr>
          <a:xfrm>
            <a:off x="626641" y="1775966"/>
            <a:ext cx="7890644" cy="2960936"/>
          </a:xfrm>
          <a:prstGeom prst="rect">
            <a:avLst/>
          </a:prstGeom>
        </p:spPr>
      </p:pic>
      <p:sp>
        <p:nvSpPr>
          <p:cNvPr id="10" name="Text 7"/>
          <p:cNvSpPr/>
          <p:nvPr/>
        </p:nvSpPr>
        <p:spPr>
          <a:xfrm>
            <a:off x="7002209" y="4018107"/>
            <a:ext cx="1190147" cy="229266"/>
          </a:xfrm>
          <a:prstGeom prst="rect">
            <a:avLst/>
          </a:prstGeom>
          <a:noFill/>
        </p:spPr>
        <p:txBody>
          <a:bodyPr wrap="none" lIns="0" tIns="0" rIns="0" bIns="0" rtlCol="0" anchor="t"/>
          <a:lstStyle/>
          <a:p>
            <a:pPr marL="0" indent="0" algn="ctr">
              <a:lnSpc>
                <a:spcPct val="104000"/>
              </a:lnSpc>
              <a:buNone/>
            </a:pPr>
            <a:r>
              <a:rPr lang="en-US" sz="140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OOK Decode</a:t>
            </a:r>
            <a:endParaRPr lang="en-US" sz="1400" dirty="0"/>
          </a:p>
        </p:txBody>
      </p:sp>
      <p:sp>
        <p:nvSpPr>
          <p:cNvPr id="11" name="Text 8"/>
          <p:cNvSpPr/>
          <p:nvPr/>
        </p:nvSpPr>
        <p:spPr>
          <a:xfrm>
            <a:off x="5502299" y="4018107"/>
            <a:ext cx="1190146" cy="229266"/>
          </a:xfrm>
          <a:prstGeom prst="rect">
            <a:avLst/>
          </a:prstGeom>
          <a:noFill/>
        </p:spPr>
        <p:txBody>
          <a:bodyPr wrap="none" lIns="0" tIns="0" rIns="0" bIns="0" rtlCol="0" anchor="t"/>
          <a:lstStyle/>
          <a:p>
            <a:pPr marL="0" indent="0" algn="ctr">
              <a:lnSpc>
                <a:spcPct val="104000"/>
              </a:lnSpc>
              <a:buNone/>
            </a:pPr>
            <a:r>
              <a:rPr lang="en-US" sz="140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Sync</a:t>
            </a:r>
            <a:endParaRPr lang="en-US" sz="1400" dirty="0"/>
          </a:p>
        </p:txBody>
      </p:sp>
      <p:sp>
        <p:nvSpPr>
          <p:cNvPr id="12" name="Text 9"/>
          <p:cNvSpPr/>
          <p:nvPr/>
        </p:nvSpPr>
        <p:spPr>
          <a:xfrm>
            <a:off x="4010540" y="4018107"/>
            <a:ext cx="1190146" cy="229266"/>
          </a:xfrm>
          <a:prstGeom prst="rect">
            <a:avLst/>
          </a:prstGeom>
          <a:noFill/>
        </p:spPr>
        <p:txBody>
          <a:bodyPr wrap="none" lIns="0" tIns="0" rIns="0" bIns="0" rtlCol="0" anchor="t"/>
          <a:lstStyle/>
          <a:p>
            <a:pPr marL="0" indent="0" algn="ctr">
              <a:lnSpc>
                <a:spcPct val="104000"/>
              </a:lnSpc>
              <a:buNone/>
            </a:pPr>
            <a:r>
              <a:rPr lang="en-US" sz="140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Intensity</a:t>
            </a:r>
            <a:endParaRPr lang="en-US" sz="1400" dirty="0"/>
          </a:p>
        </p:txBody>
      </p:sp>
      <p:sp>
        <p:nvSpPr>
          <p:cNvPr id="13" name="Text 10"/>
          <p:cNvSpPr/>
          <p:nvPr/>
        </p:nvSpPr>
        <p:spPr>
          <a:xfrm>
            <a:off x="2518781" y="4018107"/>
            <a:ext cx="1190146" cy="229266"/>
          </a:xfrm>
          <a:prstGeom prst="rect">
            <a:avLst/>
          </a:prstGeom>
          <a:noFill/>
        </p:spPr>
        <p:txBody>
          <a:bodyPr wrap="none" lIns="0" tIns="0" rIns="0" bIns="0" rtlCol="0" anchor="t"/>
          <a:lstStyle/>
          <a:p>
            <a:pPr marL="0" indent="0" algn="ctr">
              <a:lnSpc>
                <a:spcPct val="104000"/>
              </a:lnSpc>
              <a:buNone/>
            </a:pPr>
            <a:r>
              <a:rPr lang="en-US" sz="140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ROI</a:t>
            </a:r>
            <a:endParaRPr lang="en-US" sz="1400" dirty="0"/>
          </a:p>
        </p:txBody>
      </p:sp>
      <p:sp>
        <p:nvSpPr>
          <p:cNvPr id="14" name="Text 11"/>
          <p:cNvSpPr/>
          <p:nvPr/>
        </p:nvSpPr>
        <p:spPr>
          <a:xfrm>
            <a:off x="994415" y="4018107"/>
            <a:ext cx="1190146" cy="229266"/>
          </a:xfrm>
          <a:prstGeom prst="rect">
            <a:avLst/>
          </a:prstGeom>
          <a:noFill/>
        </p:spPr>
        <p:txBody>
          <a:bodyPr wrap="none" lIns="0" tIns="0" rIns="0" bIns="0" rtlCol="0" anchor="t"/>
          <a:lstStyle/>
          <a:p>
            <a:pPr marL="0" indent="0" algn="ctr">
              <a:lnSpc>
                <a:spcPct val="104000"/>
              </a:lnSpc>
              <a:buNone/>
            </a:pPr>
            <a:r>
              <a:rPr lang="en-US" sz="140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Video</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418430"/>
            <a:ext cx="8151763" cy="276895"/>
          </a:xfrm>
          <a:prstGeom prst="rect">
            <a:avLst/>
          </a:prstGeom>
          <a:noFill/>
        </p:spPr>
        <p:txBody>
          <a:bodyPr wrap="none" lIns="0" tIns="0" rIns="0" bIns="0" rtlCol="0" anchor="t"/>
          <a:lstStyle/>
          <a:p>
            <a:pPr marL="0" indent="0" algn="l">
              <a:lnSpc>
                <a:spcPct val="104000"/>
              </a:lnSpc>
              <a:buNone/>
            </a:pPr>
            <a:r>
              <a:rPr lang="en-US" sz="1700" dirty="0">
                <a:solidFill>
                  <a:srgbClr val="2E3C4E"/>
                </a:solidFill>
                <a:latin typeface="Host Grotesk Medium" panose="020B0504030402000203" pitchFamily="34" charset="0"/>
                <a:ea typeface="Host Grotesk Medium" panose="020B0504030402000203" pitchFamily="34" charset="-122"/>
                <a:cs typeface="Host Grotesk Medium" panose="020B0504030402000203" pitchFamily="34" charset="-120"/>
              </a:rPr>
              <a:t>Project Objectives</a:t>
            </a:r>
            <a:endParaRPr lang="en-US" sz="1700" dirty="0"/>
          </a:p>
        </p:txBody>
      </p:sp>
      <p:sp>
        <p:nvSpPr>
          <p:cNvPr id="3" name="Text 1"/>
          <p:cNvSpPr/>
          <p:nvPr/>
        </p:nvSpPr>
        <p:spPr>
          <a:xfrm>
            <a:off x="496119" y="717426"/>
            <a:ext cx="8151763" cy="138410"/>
          </a:xfrm>
          <a:prstGeom prst="rect">
            <a:avLst/>
          </a:prstGeom>
          <a:noFill/>
        </p:spPr>
        <p:txBody>
          <a:bodyPr wrap="none" lIns="0" tIns="0" rIns="0" bIns="0" rtlCol="0" anchor="t"/>
          <a:lstStyle/>
          <a:p>
            <a:pPr marL="0" indent="0" algn="l">
              <a:lnSpc>
                <a:spcPct val="104000"/>
              </a:lnSpc>
              <a:buNone/>
            </a:pPr>
            <a:r>
              <a:rPr lang="en-US" sz="850" dirty="0">
                <a:solidFill>
                  <a:srgbClr val="2E3C4E"/>
                </a:solidFill>
                <a:latin typeface="Host Grotesk Medium" panose="020B0504030402000203" pitchFamily="34" charset="0"/>
                <a:ea typeface="Host Grotesk Medium" panose="020B0504030402000203" pitchFamily="34" charset="-122"/>
                <a:cs typeface="Host Grotesk Medium" panose="020B0504030402000203" pitchFamily="34" charset="-120"/>
              </a:rPr>
              <a:t>What I Aim to Achieve</a:t>
            </a:r>
            <a:endParaRPr lang="en-US" sz="850" dirty="0"/>
          </a:p>
        </p:txBody>
      </p:sp>
      <p:pic>
        <p:nvPicPr>
          <p:cNvPr id="4"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938882"/>
            <a:ext cx="8151763" cy="531614"/>
          </a:xfrm>
          <a:prstGeom prst="rect">
            <a:avLst/>
          </a:prstGeom>
        </p:spPr>
      </p:pic>
      <p:sp>
        <p:nvSpPr>
          <p:cNvPr id="5" name="Text 2"/>
          <p:cNvSpPr/>
          <p:nvPr/>
        </p:nvSpPr>
        <p:spPr>
          <a:xfrm>
            <a:off x="613990" y="1121643"/>
            <a:ext cx="132904" cy="166092"/>
          </a:xfrm>
          <a:prstGeom prst="rect">
            <a:avLst/>
          </a:prstGeom>
          <a:noFill/>
        </p:spPr>
        <p:txBody>
          <a:bodyPr wrap="none" lIns="0" tIns="0" rIns="0" bIns="0" rtlCol="0" anchor="ctr"/>
          <a:lstStyle/>
          <a:p>
            <a:pPr marL="0" indent="0" algn="ctr">
              <a:lnSpc>
                <a:spcPct val="100000"/>
              </a:lnSpc>
              <a:buNone/>
            </a:pPr>
            <a:r>
              <a:rPr lang="en-US" sz="100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1</a:t>
            </a:r>
            <a:endParaRPr lang="en-US" sz="1000" dirty="0"/>
          </a:p>
        </p:txBody>
      </p:sp>
      <p:sp>
        <p:nvSpPr>
          <p:cNvPr id="6" name="Text 3"/>
          <p:cNvSpPr/>
          <p:nvPr/>
        </p:nvSpPr>
        <p:spPr>
          <a:xfrm>
            <a:off x="915367" y="1036960"/>
            <a:ext cx="7634436" cy="138410"/>
          </a:xfrm>
          <a:prstGeom prst="rect">
            <a:avLst/>
          </a:prstGeom>
          <a:noFill/>
        </p:spPr>
        <p:txBody>
          <a:bodyPr wrap="none" lIns="0" tIns="0" rIns="0" bIns="0" rtlCol="0" anchor="t"/>
          <a:lstStyle/>
          <a:p>
            <a:pPr marL="0" indent="0" algn="l">
              <a:lnSpc>
                <a:spcPct val="104000"/>
              </a:lnSpc>
              <a:buNone/>
            </a:pPr>
            <a:r>
              <a:rPr lang="en-US" sz="85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Understand and formulate the OCC video decoding problem.</a:t>
            </a:r>
            <a:endParaRPr lang="en-US" sz="850" dirty="0"/>
          </a:p>
        </p:txBody>
      </p:sp>
      <p:pic>
        <p:nvPicPr>
          <p:cNvPr id="7" name="Image 1"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525860"/>
            <a:ext cx="8151763" cy="531614"/>
          </a:xfrm>
          <a:prstGeom prst="rect">
            <a:avLst/>
          </a:prstGeom>
        </p:spPr>
      </p:pic>
      <p:sp>
        <p:nvSpPr>
          <p:cNvPr id="8" name="Text 4"/>
          <p:cNvSpPr/>
          <p:nvPr/>
        </p:nvSpPr>
        <p:spPr>
          <a:xfrm>
            <a:off x="613990" y="1708621"/>
            <a:ext cx="132904" cy="166092"/>
          </a:xfrm>
          <a:prstGeom prst="rect">
            <a:avLst/>
          </a:prstGeom>
          <a:noFill/>
        </p:spPr>
        <p:txBody>
          <a:bodyPr wrap="none" lIns="0" tIns="0" rIns="0" bIns="0" rtlCol="0" anchor="ctr"/>
          <a:lstStyle/>
          <a:p>
            <a:pPr marL="0" indent="0" algn="ctr">
              <a:lnSpc>
                <a:spcPct val="100000"/>
              </a:lnSpc>
              <a:buNone/>
            </a:pPr>
            <a:r>
              <a:rPr lang="en-US" sz="100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2</a:t>
            </a:r>
            <a:endParaRPr lang="en-US" sz="1000" dirty="0"/>
          </a:p>
        </p:txBody>
      </p:sp>
      <p:sp>
        <p:nvSpPr>
          <p:cNvPr id="9" name="Text 5"/>
          <p:cNvSpPr/>
          <p:nvPr/>
        </p:nvSpPr>
        <p:spPr>
          <a:xfrm>
            <a:off x="915367" y="1623938"/>
            <a:ext cx="7634436" cy="138410"/>
          </a:xfrm>
          <a:prstGeom prst="rect">
            <a:avLst/>
          </a:prstGeom>
          <a:noFill/>
        </p:spPr>
        <p:txBody>
          <a:bodyPr wrap="none" lIns="0" tIns="0" rIns="0" bIns="0" rtlCol="0" anchor="t"/>
          <a:lstStyle/>
          <a:p>
            <a:pPr marL="0" indent="0" algn="l">
              <a:lnSpc>
                <a:spcPct val="104000"/>
              </a:lnSpc>
              <a:buNone/>
            </a:pPr>
            <a:r>
              <a:rPr lang="en-US" sz="85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Inspect and prepare the provided video dataset.</a:t>
            </a:r>
            <a:endParaRPr lang="en-US" sz="850" dirty="0"/>
          </a:p>
        </p:txBody>
      </p:sp>
      <p:pic>
        <p:nvPicPr>
          <p:cNvPr id="10" name="Image 2"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2112838"/>
            <a:ext cx="8151763" cy="531614"/>
          </a:xfrm>
          <a:prstGeom prst="rect">
            <a:avLst/>
          </a:prstGeom>
        </p:spPr>
      </p:pic>
      <p:sp>
        <p:nvSpPr>
          <p:cNvPr id="11" name="Text 6"/>
          <p:cNvSpPr/>
          <p:nvPr/>
        </p:nvSpPr>
        <p:spPr>
          <a:xfrm>
            <a:off x="613990" y="2295599"/>
            <a:ext cx="132904" cy="166092"/>
          </a:xfrm>
          <a:prstGeom prst="rect">
            <a:avLst/>
          </a:prstGeom>
          <a:noFill/>
        </p:spPr>
        <p:txBody>
          <a:bodyPr wrap="none" lIns="0" tIns="0" rIns="0" bIns="0" rtlCol="0" anchor="ctr"/>
          <a:lstStyle/>
          <a:p>
            <a:pPr marL="0" indent="0" algn="ctr">
              <a:lnSpc>
                <a:spcPct val="100000"/>
              </a:lnSpc>
              <a:buNone/>
            </a:pPr>
            <a:r>
              <a:rPr lang="en-US" sz="100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3</a:t>
            </a:r>
            <a:endParaRPr lang="en-US" sz="1000" dirty="0"/>
          </a:p>
        </p:txBody>
      </p:sp>
      <p:sp>
        <p:nvSpPr>
          <p:cNvPr id="12" name="Text 7"/>
          <p:cNvSpPr/>
          <p:nvPr/>
        </p:nvSpPr>
        <p:spPr>
          <a:xfrm>
            <a:off x="915367" y="2210916"/>
            <a:ext cx="7634436" cy="138410"/>
          </a:xfrm>
          <a:prstGeom prst="rect">
            <a:avLst/>
          </a:prstGeom>
          <a:noFill/>
        </p:spPr>
        <p:txBody>
          <a:bodyPr wrap="none" lIns="0" tIns="0" rIns="0" bIns="0" rtlCol="0" anchor="t"/>
          <a:lstStyle/>
          <a:p>
            <a:pPr marL="0" indent="0" algn="l">
              <a:lnSpc>
                <a:spcPct val="104000"/>
              </a:lnSpc>
              <a:buNone/>
            </a:pPr>
            <a:r>
              <a:rPr lang="en-US" sz="85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Detect/select the transmitter Region of Interest (ROI).</a:t>
            </a:r>
            <a:endParaRPr lang="en-US" sz="850" dirty="0"/>
          </a:p>
        </p:txBody>
      </p:sp>
      <p:pic>
        <p:nvPicPr>
          <p:cNvPr id="13" name="Image 3"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2699817"/>
            <a:ext cx="8151763" cy="531614"/>
          </a:xfrm>
          <a:prstGeom prst="rect">
            <a:avLst/>
          </a:prstGeom>
        </p:spPr>
      </p:pic>
      <p:sp>
        <p:nvSpPr>
          <p:cNvPr id="14" name="Text 8"/>
          <p:cNvSpPr/>
          <p:nvPr/>
        </p:nvSpPr>
        <p:spPr>
          <a:xfrm>
            <a:off x="613990" y="2882578"/>
            <a:ext cx="132904" cy="166092"/>
          </a:xfrm>
          <a:prstGeom prst="rect">
            <a:avLst/>
          </a:prstGeom>
          <a:noFill/>
        </p:spPr>
        <p:txBody>
          <a:bodyPr wrap="none" lIns="0" tIns="0" rIns="0" bIns="0" rtlCol="0" anchor="ctr"/>
          <a:lstStyle/>
          <a:p>
            <a:pPr marL="0" indent="0" algn="ctr">
              <a:lnSpc>
                <a:spcPct val="100000"/>
              </a:lnSpc>
              <a:buNone/>
            </a:pPr>
            <a:r>
              <a:rPr lang="en-US" sz="100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4</a:t>
            </a:r>
            <a:endParaRPr lang="en-US" sz="1000" dirty="0"/>
          </a:p>
        </p:txBody>
      </p:sp>
      <p:sp>
        <p:nvSpPr>
          <p:cNvPr id="15" name="Text 9"/>
          <p:cNvSpPr/>
          <p:nvPr/>
        </p:nvSpPr>
        <p:spPr>
          <a:xfrm>
            <a:off x="915367" y="2797894"/>
            <a:ext cx="7634436" cy="138410"/>
          </a:xfrm>
          <a:prstGeom prst="rect">
            <a:avLst/>
          </a:prstGeom>
          <a:noFill/>
        </p:spPr>
        <p:txBody>
          <a:bodyPr wrap="none" lIns="0" tIns="0" rIns="0" bIns="0" rtlCol="0" anchor="t"/>
          <a:lstStyle/>
          <a:p>
            <a:pPr marL="0" indent="0" algn="l">
              <a:lnSpc>
                <a:spcPct val="104000"/>
              </a:lnSpc>
              <a:buNone/>
            </a:pPr>
            <a:r>
              <a:rPr lang="en-US" sz="85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Extract and analyze temporal light-intensity signals.</a:t>
            </a:r>
            <a:endParaRPr lang="en-US" sz="850" dirty="0"/>
          </a:p>
        </p:txBody>
      </p:sp>
      <p:pic>
        <p:nvPicPr>
          <p:cNvPr id="16" name="Image 4"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3286795"/>
            <a:ext cx="8151763" cy="531614"/>
          </a:xfrm>
          <a:prstGeom prst="rect">
            <a:avLst/>
          </a:prstGeom>
        </p:spPr>
      </p:pic>
      <p:sp>
        <p:nvSpPr>
          <p:cNvPr id="17" name="Text 10"/>
          <p:cNvSpPr/>
          <p:nvPr/>
        </p:nvSpPr>
        <p:spPr>
          <a:xfrm>
            <a:off x="613990" y="3469556"/>
            <a:ext cx="132904" cy="166092"/>
          </a:xfrm>
          <a:prstGeom prst="rect">
            <a:avLst/>
          </a:prstGeom>
          <a:noFill/>
        </p:spPr>
        <p:txBody>
          <a:bodyPr wrap="none" lIns="0" tIns="0" rIns="0" bIns="0" rtlCol="0" anchor="ctr"/>
          <a:lstStyle/>
          <a:p>
            <a:pPr marL="0" indent="0" algn="ctr">
              <a:lnSpc>
                <a:spcPct val="100000"/>
              </a:lnSpc>
              <a:buNone/>
            </a:pPr>
            <a:r>
              <a:rPr lang="en-US" sz="100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5</a:t>
            </a:r>
            <a:endParaRPr lang="en-US" sz="1000" dirty="0"/>
          </a:p>
        </p:txBody>
      </p:sp>
      <p:sp>
        <p:nvSpPr>
          <p:cNvPr id="18" name="Text 11"/>
          <p:cNvSpPr/>
          <p:nvPr/>
        </p:nvSpPr>
        <p:spPr>
          <a:xfrm>
            <a:off x="915367" y="3384872"/>
            <a:ext cx="7634436" cy="138410"/>
          </a:xfrm>
          <a:prstGeom prst="rect">
            <a:avLst/>
          </a:prstGeom>
          <a:noFill/>
        </p:spPr>
        <p:txBody>
          <a:bodyPr wrap="none" lIns="0" tIns="0" rIns="0" bIns="0" rtlCol="0" anchor="t"/>
          <a:lstStyle/>
          <a:p>
            <a:pPr marL="0" indent="0" algn="l">
              <a:lnSpc>
                <a:spcPct val="104000"/>
              </a:lnSpc>
              <a:buNone/>
            </a:pPr>
            <a:r>
              <a:rPr lang="en-US" sz="85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Compare threshold-based, signal-processing and ML-assisted approaches.</a:t>
            </a:r>
            <a:endParaRPr lang="en-US" sz="850" dirty="0"/>
          </a:p>
        </p:txBody>
      </p:sp>
      <p:pic>
        <p:nvPicPr>
          <p:cNvPr id="19" name="Image 5"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3873773"/>
            <a:ext cx="8151763" cy="531614"/>
          </a:xfrm>
          <a:prstGeom prst="rect">
            <a:avLst/>
          </a:prstGeom>
        </p:spPr>
      </p:pic>
      <p:sp>
        <p:nvSpPr>
          <p:cNvPr id="20" name="Text 12"/>
          <p:cNvSpPr/>
          <p:nvPr/>
        </p:nvSpPr>
        <p:spPr>
          <a:xfrm>
            <a:off x="613990" y="4056534"/>
            <a:ext cx="132904" cy="166092"/>
          </a:xfrm>
          <a:prstGeom prst="rect">
            <a:avLst/>
          </a:prstGeom>
          <a:noFill/>
        </p:spPr>
        <p:txBody>
          <a:bodyPr wrap="none" lIns="0" tIns="0" rIns="0" bIns="0" rtlCol="0" anchor="ctr"/>
          <a:lstStyle/>
          <a:p>
            <a:pPr marL="0" indent="0" algn="ctr">
              <a:lnSpc>
                <a:spcPct val="100000"/>
              </a:lnSpc>
              <a:buNone/>
            </a:pPr>
            <a:r>
              <a:rPr lang="en-US" sz="100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6</a:t>
            </a:r>
            <a:endParaRPr lang="en-US" sz="1000" dirty="0"/>
          </a:p>
        </p:txBody>
      </p:sp>
      <p:sp>
        <p:nvSpPr>
          <p:cNvPr id="21" name="Text 13"/>
          <p:cNvSpPr/>
          <p:nvPr/>
        </p:nvSpPr>
        <p:spPr>
          <a:xfrm>
            <a:off x="915367" y="3971851"/>
            <a:ext cx="7634436" cy="138410"/>
          </a:xfrm>
          <a:prstGeom prst="rect">
            <a:avLst/>
          </a:prstGeom>
          <a:noFill/>
        </p:spPr>
        <p:txBody>
          <a:bodyPr wrap="none" lIns="0" tIns="0" rIns="0" bIns="0" rtlCol="0" anchor="t"/>
          <a:lstStyle/>
          <a:p>
            <a:pPr marL="0" indent="0" algn="l">
              <a:lnSpc>
                <a:spcPct val="104000"/>
              </a:lnSpc>
              <a:buNone/>
            </a:pPr>
            <a:r>
              <a:rPr lang="en-US" sz="85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Evaluate decoding accuracy, BER, synchronization robustness and failure cases.</a:t>
            </a:r>
            <a:endParaRPr lang="en-US" sz="850" dirty="0"/>
          </a:p>
        </p:txBody>
      </p:sp>
      <p:sp>
        <p:nvSpPr>
          <p:cNvPr id="22" name="Shape 14"/>
          <p:cNvSpPr/>
          <p:nvPr/>
        </p:nvSpPr>
        <p:spPr>
          <a:xfrm>
            <a:off x="496119" y="4467671"/>
            <a:ext cx="8151763" cy="257324"/>
          </a:xfrm>
          <a:prstGeom prst="roundRect">
            <a:avLst>
              <a:gd name="adj" fmla="val 14462"/>
            </a:avLst>
          </a:prstGeom>
          <a:solidFill>
            <a:srgbClr val="D9EDF2"/>
          </a:solidFill>
        </p:spPr>
      </p:sp>
      <p:pic>
        <p:nvPicPr>
          <p:cNvPr id="23" name="Image 6" descr="preencoded.png"/>
          <p:cNvPicPr>
            <a:picLocks noChangeAspect="1"/>
          </p:cNvPicPr>
          <p:nvPr/>
        </p:nvPicPr>
        <p:blipFill>
          <a:blip r:embed="rId3"/>
          <a:stretch>
            <a:fillRect/>
          </a:stretch>
        </p:blipFill>
        <p:spPr>
          <a:xfrm>
            <a:off x="584671" y="4545137"/>
            <a:ext cx="110728" cy="88553"/>
          </a:xfrm>
          <a:prstGeom prst="rect">
            <a:avLst/>
          </a:prstGeom>
        </p:spPr>
      </p:pic>
      <p:sp>
        <p:nvSpPr>
          <p:cNvPr id="24" name="Text 15"/>
          <p:cNvSpPr/>
          <p:nvPr/>
        </p:nvSpPr>
        <p:spPr>
          <a:xfrm>
            <a:off x="783952" y="4545137"/>
            <a:ext cx="8232577" cy="107975"/>
          </a:xfrm>
          <a:prstGeom prst="rect">
            <a:avLst/>
          </a:prstGeom>
          <a:noFill/>
        </p:spPr>
        <p:txBody>
          <a:bodyPr wrap="none" lIns="0" tIns="0" rIns="0" bIns="0" rtlCol="0" anchor="t"/>
          <a:lstStyle/>
          <a:p>
            <a:pPr marL="0" indent="0" algn="l">
              <a:lnSpc>
                <a:spcPct val="102000"/>
              </a:lnSpc>
              <a:buNone/>
            </a:pPr>
            <a:r>
              <a:rPr lang="en-US" sz="650" b="1" dirty="0">
                <a:solidFill>
                  <a:srgbClr val="000000"/>
                </a:solidFill>
                <a:latin typeface="Roboto Bold" panose="02000000000000000000" pitchFamily="34" charset="0"/>
                <a:ea typeface="Roboto Bold" panose="02000000000000000000" pitchFamily="34" charset="-122"/>
                <a:cs typeface="Roboto Bold" panose="02000000000000000000" pitchFamily="34" charset="-120"/>
              </a:rPr>
              <a:t>Goal:</a:t>
            </a:r>
            <a:r>
              <a:rPr lang="en-US" sz="650" dirty="0">
                <a:solidFill>
                  <a:srgbClr val="000000"/>
                </a:solidFill>
                <a:latin typeface="Roboto" panose="02000000000000000000" pitchFamily="34" charset="0"/>
                <a:ea typeface="Roboto" panose="02000000000000000000" pitchFamily="34" charset="-122"/>
                <a:cs typeface="Roboto" panose="02000000000000000000" pitchFamily="34" charset="-120"/>
              </a:rPr>
              <a:t> Build a reliable and reproducible video-to-message decoding pipeline.</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389855"/>
            <a:ext cx="8151763" cy="221456"/>
          </a:xfrm>
          <a:prstGeom prst="rect">
            <a:avLst/>
          </a:prstGeom>
          <a:noFill/>
        </p:spPr>
        <p:txBody>
          <a:bodyPr wrap="none" lIns="0" tIns="0" rIns="0" bIns="0" rtlCol="0" anchor="t"/>
          <a:lstStyle/>
          <a:p>
            <a:pPr marL="0" indent="0" algn="l">
              <a:lnSpc>
                <a:spcPct val="104000"/>
              </a:lnSpc>
              <a:buNone/>
            </a:pPr>
            <a:r>
              <a:rPr lang="en-US" sz="1350" dirty="0">
                <a:solidFill>
                  <a:srgbClr val="2E3C4E"/>
                </a:solidFill>
                <a:latin typeface="Host Grotesk Medium" panose="020B0504030402000203" pitchFamily="34" charset="0"/>
                <a:ea typeface="Host Grotesk Medium" panose="020B0504030402000203" pitchFamily="34" charset="-122"/>
                <a:cs typeface="Host Grotesk Medium" panose="020B0504030402000203" pitchFamily="34" charset="-120"/>
              </a:rPr>
              <a:t>Proposed Methodology / Workflow</a:t>
            </a:r>
            <a:endParaRPr lang="en-US" sz="1350" dirty="0"/>
          </a:p>
        </p:txBody>
      </p:sp>
      <p:pic>
        <p:nvPicPr>
          <p:cNvPr id="3" name="Image 0" descr="preencoded.png"/>
          <p:cNvPicPr>
            <a:picLocks noChangeAspect="1"/>
          </p:cNvPicPr>
          <p:nvPr/>
        </p:nvPicPr>
        <p:blipFill>
          <a:blip r:embed="rId1"/>
          <a:stretch>
            <a:fillRect/>
          </a:stretch>
        </p:blipFill>
        <p:spPr>
          <a:xfrm>
            <a:off x="496119" y="682154"/>
            <a:ext cx="7315200" cy="4114800"/>
          </a:xfrm>
          <a:prstGeom prst="rect">
            <a:avLst/>
          </a:prstGeom>
        </p:spPr>
      </p:pic>
      <p:sp>
        <p:nvSpPr>
          <p:cNvPr id="4" name="Shape 1"/>
          <p:cNvSpPr/>
          <p:nvPr/>
        </p:nvSpPr>
        <p:spPr>
          <a:xfrm>
            <a:off x="496119" y="4836765"/>
            <a:ext cx="8151763" cy="182463"/>
          </a:xfrm>
          <a:prstGeom prst="roundRect">
            <a:avLst>
              <a:gd name="adj" fmla="val 16316"/>
            </a:avLst>
          </a:prstGeom>
          <a:solidFill>
            <a:srgbClr val="D9EDF2"/>
          </a:solidFill>
        </p:spPr>
      </p:sp>
      <p:pic>
        <p:nvPicPr>
          <p:cNvPr id="5" name="Image 1" descr="preencoded.png"/>
          <p:cNvPicPr>
            <a:picLocks noChangeAspect="1"/>
          </p:cNvPicPr>
          <p:nvPr/>
        </p:nvPicPr>
        <p:blipFill>
          <a:blip r:embed="rId2"/>
          <a:stretch>
            <a:fillRect/>
          </a:stretch>
        </p:blipFill>
        <p:spPr>
          <a:xfrm>
            <a:off x="566961" y="4889897"/>
            <a:ext cx="88553" cy="70842"/>
          </a:xfrm>
          <a:prstGeom prst="rect">
            <a:avLst/>
          </a:prstGeom>
        </p:spPr>
      </p:pic>
      <p:sp>
        <p:nvSpPr>
          <p:cNvPr id="6" name="Text 2"/>
          <p:cNvSpPr/>
          <p:nvPr/>
        </p:nvSpPr>
        <p:spPr>
          <a:xfrm>
            <a:off x="726356" y="4889897"/>
            <a:ext cx="8307884" cy="79772"/>
          </a:xfrm>
          <a:prstGeom prst="rect">
            <a:avLst/>
          </a:prstGeom>
          <a:noFill/>
        </p:spPr>
        <p:txBody>
          <a:bodyPr wrap="none" lIns="0" tIns="0" rIns="0" bIns="0" rtlCol="0" anchor="t"/>
          <a:lstStyle/>
          <a:p>
            <a:pPr marL="0" indent="0" algn="l">
              <a:lnSpc>
                <a:spcPct val="94000"/>
              </a:lnSpc>
              <a:buNone/>
            </a:pPr>
            <a:r>
              <a:rPr lang="en-US" sz="550" b="1" dirty="0">
                <a:solidFill>
                  <a:srgbClr val="000000"/>
                </a:solidFill>
                <a:latin typeface="Roboto Bold" panose="02000000000000000000" pitchFamily="34" charset="0"/>
                <a:ea typeface="Roboto Bold" panose="02000000000000000000" pitchFamily="34" charset="-122"/>
                <a:cs typeface="Roboto Bold" panose="02000000000000000000" pitchFamily="34" charset="-120"/>
              </a:rPr>
              <a:t>Approach:</a:t>
            </a:r>
            <a:r>
              <a:rPr lang="en-US" sz="550" dirty="0">
                <a:solidFill>
                  <a:srgbClr val="000000"/>
                </a:solidFill>
                <a:latin typeface="Roboto" panose="02000000000000000000" pitchFamily="34" charset="0"/>
                <a:ea typeface="Roboto" panose="02000000000000000000" pitchFamily="34" charset="-122"/>
                <a:cs typeface="Roboto" panose="02000000000000000000" pitchFamily="34" charset="-120"/>
              </a:rPr>
              <a:t> Baseline first → Advanced methods/ML next → Compare → Select final approach. The project is software-only and dataset-driven.</a:t>
            </a:r>
            <a:endParaRPr lang="en-US" sz="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434057"/>
            <a:ext cx="8151763" cy="311497"/>
          </a:xfrm>
          <a:prstGeom prst="rect">
            <a:avLst/>
          </a:prstGeom>
          <a:noFill/>
        </p:spPr>
        <p:txBody>
          <a:bodyPr wrap="none" lIns="0" tIns="0" rIns="0" bIns="0" rtlCol="0" anchor="t"/>
          <a:lstStyle/>
          <a:p>
            <a:pPr marL="0" indent="0" algn="l">
              <a:lnSpc>
                <a:spcPct val="104000"/>
              </a:lnSpc>
              <a:buNone/>
            </a:pPr>
            <a:r>
              <a:rPr lang="en-US" sz="1950" dirty="0">
                <a:solidFill>
                  <a:srgbClr val="2E3C4E"/>
                </a:solidFill>
                <a:latin typeface="Host Grotesk Medium" panose="020B0504030402000203" pitchFamily="34" charset="0"/>
                <a:ea typeface="Host Grotesk Medium" panose="020B0504030402000203" pitchFamily="34" charset="-122"/>
                <a:cs typeface="Host Grotesk Medium" panose="020B0504030402000203" pitchFamily="34" charset="-120"/>
              </a:rPr>
              <a:t>Literature Review</a:t>
            </a:r>
            <a:endParaRPr lang="en-US" sz="1950" dirty="0"/>
          </a:p>
        </p:txBody>
      </p:sp>
      <p:sp>
        <p:nvSpPr>
          <p:cNvPr id="3" name="Text 1"/>
          <p:cNvSpPr/>
          <p:nvPr/>
        </p:nvSpPr>
        <p:spPr>
          <a:xfrm>
            <a:off x="496119" y="773534"/>
            <a:ext cx="8151763" cy="155674"/>
          </a:xfrm>
          <a:prstGeom prst="rect">
            <a:avLst/>
          </a:prstGeom>
          <a:noFill/>
        </p:spPr>
        <p:txBody>
          <a:bodyPr wrap="none" lIns="0" tIns="0" rIns="0" bIns="0" rtlCol="0" anchor="t"/>
          <a:lstStyle/>
          <a:p>
            <a:pPr marL="0" indent="0" algn="l">
              <a:lnSpc>
                <a:spcPct val="104000"/>
              </a:lnSpc>
              <a:buNone/>
            </a:pPr>
            <a:r>
              <a:rPr lang="en-US" sz="950" dirty="0">
                <a:solidFill>
                  <a:srgbClr val="2E3C4E"/>
                </a:solidFill>
                <a:latin typeface="Host Grotesk Medium" panose="020B0504030402000203" pitchFamily="34" charset="0"/>
                <a:ea typeface="Host Grotesk Medium" panose="020B0504030402000203" pitchFamily="34" charset="-122"/>
                <a:cs typeface="Host Grotesk Medium" panose="020B0504030402000203" pitchFamily="34" charset="-120"/>
              </a:rPr>
              <a:t>Related Research</a:t>
            </a:r>
            <a:endParaRPr lang="en-US" sz="950" dirty="0"/>
          </a:p>
        </p:txBody>
      </p:sp>
      <p:sp>
        <p:nvSpPr>
          <p:cNvPr id="4" name="Shape 2"/>
          <p:cNvSpPr/>
          <p:nvPr/>
        </p:nvSpPr>
        <p:spPr>
          <a:xfrm>
            <a:off x="496119" y="1034281"/>
            <a:ext cx="8151763" cy="3054623"/>
          </a:xfrm>
          <a:prstGeom prst="roundRect">
            <a:avLst>
              <a:gd name="adj" fmla="val 1371"/>
            </a:avLst>
          </a:prstGeom>
          <a:noFill/>
          <a:ln w="4763">
            <a:solidFill>
              <a:srgbClr val="000000">
                <a:alpha val="8000"/>
              </a:srgbClr>
            </a:solidFill>
            <a:prstDash val="solid"/>
          </a:ln>
        </p:spPr>
      </p:sp>
      <p:sp>
        <p:nvSpPr>
          <p:cNvPr id="5" name="Shape 3"/>
          <p:cNvSpPr/>
          <p:nvPr/>
        </p:nvSpPr>
        <p:spPr>
          <a:xfrm>
            <a:off x="496119" y="1262360"/>
            <a:ext cx="8151763" cy="6230"/>
          </a:xfrm>
          <a:prstGeom prst="rect">
            <a:avLst/>
          </a:prstGeom>
          <a:solidFill>
            <a:srgbClr val="000000">
              <a:alpha val="8000"/>
            </a:srgbClr>
          </a:solidFill>
        </p:spPr>
      </p:sp>
      <p:sp>
        <p:nvSpPr>
          <p:cNvPr id="6" name="Shape 4"/>
          <p:cNvSpPr/>
          <p:nvPr/>
        </p:nvSpPr>
        <p:spPr>
          <a:xfrm>
            <a:off x="496119" y="1615380"/>
            <a:ext cx="8151763" cy="6230"/>
          </a:xfrm>
          <a:prstGeom prst="rect">
            <a:avLst/>
          </a:prstGeom>
          <a:solidFill>
            <a:srgbClr val="000000">
              <a:alpha val="8000"/>
            </a:srgbClr>
          </a:solidFill>
        </p:spPr>
      </p:sp>
      <p:sp>
        <p:nvSpPr>
          <p:cNvPr id="7" name="Shape 5"/>
          <p:cNvSpPr/>
          <p:nvPr/>
        </p:nvSpPr>
        <p:spPr>
          <a:xfrm>
            <a:off x="496119" y="1968401"/>
            <a:ext cx="8151763" cy="6230"/>
          </a:xfrm>
          <a:prstGeom prst="rect">
            <a:avLst/>
          </a:prstGeom>
          <a:solidFill>
            <a:srgbClr val="000000">
              <a:alpha val="8000"/>
            </a:srgbClr>
          </a:solidFill>
        </p:spPr>
      </p:sp>
      <p:sp>
        <p:nvSpPr>
          <p:cNvPr id="8" name="Shape 6"/>
          <p:cNvSpPr/>
          <p:nvPr/>
        </p:nvSpPr>
        <p:spPr>
          <a:xfrm>
            <a:off x="496119" y="2321421"/>
            <a:ext cx="8151763" cy="6230"/>
          </a:xfrm>
          <a:prstGeom prst="rect">
            <a:avLst/>
          </a:prstGeom>
          <a:solidFill>
            <a:srgbClr val="000000">
              <a:alpha val="8000"/>
            </a:srgbClr>
          </a:solidFill>
        </p:spPr>
      </p:sp>
      <p:sp>
        <p:nvSpPr>
          <p:cNvPr id="9" name="Shape 7"/>
          <p:cNvSpPr/>
          <p:nvPr/>
        </p:nvSpPr>
        <p:spPr>
          <a:xfrm>
            <a:off x="496119" y="2674441"/>
            <a:ext cx="8151763" cy="6230"/>
          </a:xfrm>
          <a:prstGeom prst="rect">
            <a:avLst/>
          </a:prstGeom>
          <a:solidFill>
            <a:srgbClr val="000000">
              <a:alpha val="8000"/>
            </a:srgbClr>
          </a:solidFill>
        </p:spPr>
      </p:sp>
      <p:sp>
        <p:nvSpPr>
          <p:cNvPr id="10" name="Shape 8"/>
          <p:cNvSpPr/>
          <p:nvPr/>
        </p:nvSpPr>
        <p:spPr>
          <a:xfrm>
            <a:off x="496119" y="3027462"/>
            <a:ext cx="8151763" cy="6230"/>
          </a:xfrm>
          <a:prstGeom prst="rect">
            <a:avLst/>
          </a:prstGeom>
          <a:solidFill>
            <a:srgbClr val="000000">
              <a:alpha val="8000"/>
            </a:srgbClr>
          </a:solidFill>
        </p:spPr>
      </p:sp>
      <p:sp>
        <p:nvSpPr>
          <p:cNvPr id="11" name="Shape 9"/>
          <p:cNvSpPr/>
          <p:nvPr/>
        </p:nvSpPr>
        <p:spPr>
          <a:xfrm>
            <a:off x="496119" y="3380482"/>
            <a:ext cx="8151763" cy="6230"/>
          </a:xfrm>
          <a:prstGeom prst="rect">
            <a:avLst/>
          </a:prstGeom>
          <a:solidFill>
            <a:srgbClr val="000000">
              <a:alpha val="8000"/>
            </a:srgbClr>
          </a:solidFill>
        </p:spPr>
      </p:sp>
      <p:sp>
        <p:nvSpPr>
          <p:cNvPr id="12" name="Shape 10"/>
          <p:cNvSpPr/>
          <p:nvPr/>
        </p:nvSpPr>
        <p:spPr>
          <a:xfrm>
            <a:off x="496119" y="3733502"/>
            <a:ext cx="8151763" cy="6230"/>
          </a:xfrm>
          <a:prstGeom prst="rect">
            <a:avLst/>
          </a:prstGeom>
          <a:solidFill>
            <a:srgbClr val="000000">
              <a:alpha val="8000"/>
            </a:srgbClr>
          </a:solidFill>
        </p:spPr>
      </p:sp>
      <p:sp>
        <p:nvSpPr>
          <p:cNvPr id="13" name="Text 11"/>
          <p:cNvSpPr/>
          <p:nvPr/>
        </p:nvSpPr>
        <p:spPr>
          <a:xfrm>
            <a:off x="600596" y="1085850"/>
            <a:ext cx="1723504" cy="127322"/>
          </a:xfrm>
          <a:prstGeom prst="rect">
            <a:avLst/>
          </a:prstGeom>
          <a:noFill/>
        </p:spPr>
        <p:txBody>
          <a:bodyPr wrap="none" lIns="0" tIns="0" rIns="0" bIns="0" rtlCol="0" anchor="t"/>
          <a:lstStyle/>
          <a:p>
            <a:pPr marL="0" indent="0" algn="l">
              <a:lnSpc>
                <a:spcPct val="106000"/>
              </a:lnSpc>
              <a:buNone/>
            </a:pPr>
            <a:r>
              <a:rPr lang="en-US" sz="750" b="1" dirty="0">
                <a:solidFill>
                  <a:srgbClr val="384653"/>
                </a:solidFill>
                <a:latin typeface="Roboto Bold" panose="02000000000000000000" pitchFamily="34" charset="0"/>
                <a:ea typeface="Roboto Bold" panose="02000000000000000000" pitchFamily="34" charset="-122"/>
                <a:cs typeface="Roboto Bold" panose="02000000000000000000" pitchFamily="34" charset="-120"/>
              </a:rPr>
              <a:t>Work</a:t>
            </a:r>
            <a:endParaRPr lang="en-US" sz="750" dirty="0"/>
          </a:p>
        </p:txBody>
      </p:sp>
      <p:sp>
        <p:nvSpPr>
          <p:cNvPr id="14" name="Text 12"/>
          <p:cNvSpPr/>
          <p:nvPr/>
        </p:nvSpPr>
        <p:spPr>
          <a:xfrm>
            <a:off x="2066181" y="1085850"/>
            <a:ext cx="1723504" cy="127322"/>
          </a:xfrm>
          <a:prstGeom prst="rect">
            <a:avLst/>
          </a:prstGeom>
          <a:noFill/>
        </p:spPr>
        <p:txBody>
          <a:bodyPr wrap="none" lIns="0" tIns="0" rIns="0" bIns="0" rtlCol="0" anchor="t"/>
          <a:lstStyle/>
          <a:p>
            <a:pPr marL="0" indent="0" algn="l">
              <a:lnSpc>
                <a:spcPct val="106000"/>
              </a:lnSpc>
              <a:buNone/>
            </a:pPr>
            <a:r>
              <a:rPr lang="en-US" sz="750" b="1" dirty="0">
                <a:solidFill>
                  <a:srgbClr val="384653"/>
                </a:solidFill>
                <a:latin typeface="Roboto Bold" panose="02000000000000000000" pitchFamily="34" charset="0"/>
                <a:ea typeface="Roboto Bold" panose="02000000000000000000" pitchFamily="34" charset="-122"/>
                <a:cs typeface="Roboto Bold" panose="02000000000000000000" pitchFamily="34" charset="-120"/>
              </a:rPr>
              <a:t>Problem</a:t>
            </a:r>
            <a:endParaRPr lang="en-US" sz="750" dirty="0"/>
          </a:p>
        </p:txBody>
      </p:sp>
      <p:sp>
        <p:nvSpPr>
          <p:cNvPr id="15" name="Text 13"/>
          <p:cNvSpPr/>
          <p:nvPr/>
        </p:nvSpPr>
        <p:spPr>
          <a:xfrm>
            <a:off x="3531766" y="1085850"/>
            <a:ext cx="1723504" cy="127322"/>
          </a:xfrm>
          <a:prstGeom prst="rect">
            <a:avLst/>
          </a:prstGeom>
          <a:noFill/>
        </p:spPr>
        <p:txBody>
          <a:bodyPr wrap="none" lIns="0" tIns="0" rIns="0" bIns="0" rtlCol="0" anchor="t"/>
          <a:lstStyle/>
          <a:p>
            <a:pPr marL="0" indent="0" algn="l">
              <a:lnSpc>
                <a:spcPct val="106000"/>
              </a:lnSpc>
              <a:buNone/>
            </a:pPr>
            <a:r>
              <a:rPr lang="en-US" sz="750" b="1" dirty="0">
                <a:solidFill>
                  <a:srgbClr val="384653"/>
                </a:solidFill>
                <a:latin typeface="Roboto Bold" panose="02000000000000000000" pitchFamily="34" charset="0"/>
                <a:ea typeface="Roboto Bold" panose="02000000000000000000" pitchFamily="34" charset="-122"/>
                <a:cs typeface="Roboto Bold" panose="02000000000000000000" pitchFamily="34" charset="-120"/>
              </a:rPr>
              <a:t>Method</a:t>
            </a:r>
            <a:endParaRPr lang="en-US" sz="750" dirty="0"/>
          </a:p>
        </p:txBody>
      </p:sp>
      <p:sp>
        <p:nvSpPr>
          <p:cNvPr id="16" name="Text 14"/>
          <p:cNvSpPr/>
          <p:nvPr/>
        </p:nvSpPr>
        <p:spPr>
          <a:xfrm>
            <a:off x="4997351" y="1085850"/>
            <a:ext cx="2537743" cy="127322"/>
          </a:xfrm>
          <a:prstGeom prst="rect">
            <a:avLst/>
          </a:prstGeom>
          <a:noFill/>
        </p:spPr>
        <p:txBody>
          <a:bodyPr wrap="none" lIns="0" tIns="0" rIns="0" bIns="0" rtlCol="0" anchor="t"/>
          <a:lstStyle/>
          <a:p>
            <a:pPr marL="0" indent="0" algn="l">
              <a:lnSpc>
                <a:spcPct val="106000"/>
              </a:lnSpc>
              <a:buNone/>
            </a:pPr>
            <a:r>
              <a:rPr lang="en-US" sz="750" b="1" dirty="0">
                <a:solidFill>
                  <a:srgbClr val="384653"/>
                </a:solidFill>
                <a:latin typeface="Roboto Bold" panose="02000000000000000000" pitchFamily="34" charset="0"/>
                <a:ea typeface="Roboto Bold" panose="02000000000000000000" pitchFamily="34" charset="-122"/>
                <a:cs typeface="Roboto Bold" panose="02000000000000000000" pitchFamily="34" charset="-120"/>
              </a:rPr>
              <a:t>Key Contribution</a:t>
            </a:r>
            <a:endParaRPr lang="en-US" sz="750" dirty="0"/>
          </a:p>
        </p:txBody>
      </p:sp>
      <p:sp>
        <p:nvSpPr>
          <p:cNvPr id="17" name="Text 15"/>
          <p:cNvSpPr/>
          <p:nvPr/>
        </p:nvSpPr>
        <p:spPr>
          <a:xfrm>
            <a:off x="7277174" y="1085850"/>
            <a:ext cx="1723504" cy="127322"/>
          </a:xfrm>
          <a:prstGeom prst="rect">
            <a:avLst/>
          </a:prstGeom>
          <a:noFill/>
        </p:spPr>
        <p:txBody>
          <a:bodyPr wrap="none" lIns="0" tIns="0" rIns="0" bIns="0" rtlCol="0" anchor="t"/>
          <a:lstStyle/>
          <a:p>
            <a:pPr marL="0" indent="0" algn="l">
              <a:lnSpc>
                <a:spcPct val="106000"/>
              </a:lnSpc>
              <a:buNone/>
            </a:pPr>
            <a:r>
              <a:rPr lang="en-US" sz="750" b="1" dirty="0">
                <a:solidFill>
                  <a:srgbClr val="384653"/>
                </a:solidFill>
                <a:latin typeface="Roboto Bold" panose="02000000000000000000" pitchFamily="34" charset="0"/>
                <a:ea typeface="Roboto Bold" panose="02000000000000000000" pitchFamily="34" charset="-122"/>
                <a:cs typeface="Roboto Bold" panose="02000000000000000000" pitchFamily="34" charset="-120"/>
              </a:rPr>
              <a:t>Relevance</a:t>
            </a:r>
            <a:endParaRPr lang="en-US" sz="750" dirty="0"/>
          </a:p>
        </p:txBody>
      </p:sp>
      <p:sp>
        <p:nvSpPr>
          <p:cNvPr id="18" name="Text 16"/>
          <p:cNvSpPr/>
          <p:nvPr/>
        </p:nvSpPr>
        <p:spPr>
          <a:xfrm>
            <a:off x="600596" y="1311548"/>
            <a:ext cx="1266304" cy="254645"/>
          </a:xfrm>
          <a:prstGeom prst="rect">
            <a:avLst/>
          </a:prstGeom>
          <a:noFill/>
        </p:spPr>
        <p:txBody>
          <a:bodyPr wrap="square" lIns="0" tIns="0" rIns="0" bIns="0" rtlCol="0" anchor="t">
            <a:normAutofit/>
          </a:bodyPr>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Pathak et al. (2015) — IEEE GLOBECOM</a:t>
            </a:r>
            <a:endParaRPr lang="en-US" sz="750" dirty="0"/>
          </a:p>
        </p:txBody>
      </p:sp>
      <p:sp>
        <p:nvSpPr>
          <p:cNvPr id="19" name="Text 17"/>
          <p:cNvSpPr/>
          <p:nvPr/>
        </p:nvSpPr>
        <p:spPr>
          <a:xfrm>
            <a:off x="2066181" y="1311548"/>
            <a:ext cx="1723504" cy="127322"/>
          </a:xfrm>
          <a:prstGeom prst="rect">
            <a:avLst/>
          </a:prstGeom>
          <a:noFill/>
        </p:spPr>
        <p:txBody>
          <a:bodyPr wrap="none" lIns="0" tIns="0" rIns="0" bIns="0" rtlCol="0" anchor="t"/>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OCC channel modeling</a:t>
            </a:r>
            <a:endParaRPr lang="en-US" sz="750" dirty="0"/>
          </a:p>
        </p:txBody>
      </p:sp>
      <p:sp>
        <p:nvSpPr>
          <p:cNvPr id="20" name="Text 18"/>
          <p:cNvSpPr/>
          <p:nvPr/>
        </p:nvSpPr>
        <p:spPr>
          <a:xfrm>
            <a:off x="3531766" y="1311548"/>
            <a:ext cx="1723504" cy="127322"/>
          </a:xfrm>
          <a:prstGeom prst="rect">
            <a:avLst/>
          </a:prstGeom>
          <a:noFill/>
        </p:spPr>
        <p:txBody>
          <a:bodyPr wrap="none" lIns="0" tIns="0" rIns="0" bIns="0" rtlCol="0" anchor="t"/>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Experimental measurement</a:t>
            </a:r>
            <a:endParaRPr lang="en-US" sz="750" dirty="0"/>
          </a:p>
        </p:txBody>
      </p:sp>
      <p:sp>
        <p:nvSpPr>
          <p:cNvPr id="21" name="Text 19"/>
          <p:cNvSpPr/>
          <p:nvPr/>
        </p:nvSpPr>
        <p:spPr>
          <a:xfrm>
            <a:off x="4997351" y="1311548"/>
            <a:ext cx="2080543" cy="254645"/>
          </a:xfrm>
          <a:prstGeom prst="rect">
            <a:avLst/>
          </a:prstGeom>
          <a:noFill/>
        </p:spPr>
        <p:txBody>
          <a:bodyPr wrap="square" lIns="0" tIns="0" rIns="0" bIns="0" rtlCol="0" anchor="t">
            <a:normAutofit/>
          </a:bodyPr>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Characterized OCC channel under various conditions</a:t>
            </a:r>
            <a:endParaRPr lang="en-US" sz="750" dirty="0"/>
          </a:p>
        </p:txBody>
      </p:sp>
      <p:sp>
        <p:nvSpPr>
          <p:cNvPr id="22" name="Text 20"/>
          <p:cNvSpPr/>
          <p:nvPr/>
        </p:nvSpPr>
        <p:spPr>
          <a:xfrm>
            <a:off x="7277174" y="1311548"/>
            <a:ext cx="1723504" cy="127322"/>
          </a:xfrm>
          <a:prstGeom prst="rect">
            <a:avLst/>
          </a:prstGeom>
          <a:noFill/>
        </p:spPr>
        <p:txBody>
          <a:bodyPr wrap="none" lIns="0" tIns="0" rIns="0" bIns="0" rtlCol="0" anchor="t"/>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OCC fundamentals</a:t>
            </a:r>
            <a:endParaRPr lang="en-US" sz="750" dirty="0"/>
          </a:p>
        </p:txBody>
      </p:sp>
      <p:sp>
        <p:nvSpPr>
          <p:cNvPr id="23" name="Text 21"/>
          <p:cNvSpPr/>
          <p:nvPr/>
        </p:nvSpPr>
        <p:spPr>
          <a:xfrm>
            <a:off x="600596" y="1664568"/>
            <a:ext cx="1266304" cy="254645"/>
          </a:xfrm>
          <a:prstGeom prst="rect">
            <a:avLst/>
          </a:prstGeom>
          <a:noFill/>
        </p:spPr>
        <p:txBody>
          <a:bodyPr wrap="square" lIns="0" tIns="0" rIns="0" bIns="0" rtlCol="0" anchor="t">
            <a:normAutofit/>
          </a:bodyPr>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Chow et al. (2016) — IEEE Photonics Journal</a:t>
            </a:r>
            <a:endParaRPr lang="en-US" sz="750" dirty="0"/>
          </a:p>
        </p:txBody>
      </p:sp>
      <p:sp>
        <p:nvSpPr>
          <p:cNvPr id="24" name="Text 22"/>
          <p:cNvSpPr/>
          <p:nvPr/>
        </p:nvSpPr>
        <p:spPr>
          <a:xfrm>
            <a:off x="2066181" y="1664568"/>
            <a:ext cx="1723504" cy="127322"/>
          </a:xfrm>
          <a:prstGeom prst="rect">
            <a:avLst/>
          </a:prstGeom>
          <a:noFill/>
        </p:spPr>
        <p:txBody>
          <a:bodyPr wrap="none" lIns="0" tIns="0" rIns="0" bIns="0" rtlCol="0" anchor="t"/>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LED-to-camera VLC</a:t>
            </a:r>
            <a:endParaRPr lang="en-US" sz="750" dirty="0"/>
          </a:p>
        </p:txBody>
      </p:sp>
      <p:sp>
        <p:nvSpPr>
          <p:cNvPr id="25" name="Text 23"/>
          <p:cNvSpPr/>
          <p:nvPr/>
        </p:nvSpPr>
        <p:spPr>
          <a:xfrm>
            <a:off x="3531766" y="1664568"/>
            <a:ext cx="1266304" cy="254645"/>
          </a:xfrm>
          <a:prstGeom prst="rect">
            <a:avLst/>
          </a:prstGeom>
          <a:noFill/>
        </p:spPr>
        <p:txBody>
          <a:bodyPr wrap="square" lIns="0" tIns="0" rIns="0" bIns="0" rtlCol="0" anchor="t">
            <a:normAutofit/>
          </a:bodyPr>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OOK modulation, camera receiver</a:t>
            </a:r>
            <a:endParaRPr lang="en-US" sz="750" dirty="0"/>
          </a:p>
        </p:txBody>
      </p:sp>
      <p:sp>
        <p:nvSpPr>
          <p:cNvPr id="26" name="Text 24"/>
          <p:cNvSpPr/>
          <p:nvPr/>
        </p:nvSpPr>
        <p:spPr>
          <a:xfrm>
            <a:off x="4997351" y="1664568"/>
            <a:ext cx="2537743" cy="127322"/>
          </a:xfrm>
          <a:prstGeom prst="rect">
            <a:avLst/>
          </a:prstGeom>
          <a:noFill/>
        </p:spPr>
        <p:txBody>
          <a:bodyPr wrap="none" lIns="0" tIns="0" rIns="0" bIns="0" rtlCol="0" anchor="t"/>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Demonstrated practical LED-to-camera link</a:t>
            </a:r>
            <a:endParaRPr lang="en-US" sz="750" dirty="0"/>
          </a:p>
        </p:txBody>
      </p:sp>
      <p:sp>
        <p:nvSpPr>
          <p:cNvPr id="27" name="Text 25"/>
          <p:cNvSpPr/>
          <p:nvPr/>
        </p:nvSpPr>
        <p:spPr>
          <a:xfrm>
            <a:off x="7277174" y="1664568"/>
            <a:ext cx="1723504" cy="127322"/>
          </a:xfrm>
          <a:prstGeom prst="rect">
            <a:avLst/>
          </a:prstGeom>
          <a:noFill/>
        </p:spPr>
        <p:txBody>
          <a:bodyPr wrap="none" lIns="0" tIns="0" rIns="0" bIns="0" rtlCol="0" anchor="t"/>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OOK-based OCC</a:t>
            </a:r>
            <a:endParaRPr lang="en-US" sz="750" dirty="0"/>
          </a:p>
        </p:txBody>
      </p:sp>
      <p:sp>
        <p:nvSpPr>
          <p:cNvPr id="28" name="Text 26"/>
          <p:cNvSpPr/>
          <p:nvPr/>
        </p:nvSpPr>
        <p:spPr>
          <a:xfrm>
            <a:off x="600596" y="2017588"/>
            <a:ext cx="1266304" cy="254645"/>
          </a:xfrm>
          <a:prstGeom prst="rect">
            <a:avLst/>
          </a:prstGeom>
          <a:noFill/>
        </p:spPr>
        <p:txBody>
          <a:bodyPr wrap="square" lIns="0" tIns="0" rIns="0" bIns="0" rtlCol="0" anchor="t">
            <a:normAutofit/>
          </a:bodyPr>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Danakis et al. (2012) — IEEE GLOBECOM</a:t>
            </a:r>
            <a:endParaRPr lang="en-US" sz="750" dirty="0"/>
          </a:p>
        </p:txBody>
      </p:sp>
      <p:sp>
        <p:nvSpPr>
          <p:cNvPr id="29" name="Text 27"/>
          <p:cNvSpPr/>
          <p:nvPr/>
        </p:nvSpPr>
        <p:spPr>
          <a:xfrm>
            <a:off x="2066181" y="2017588"/>
            <a:ext cx="1723504" cy="127322"/>
          </a:xfrm>
          <a:prstGeom prst="rect">
            <a:avLst/>
          </a:prstGeom>
          <a:noFill/>
        </p:spPr>
        <p:txBody>
          <a:bodyPr wrap="none" lIns="0" tIns="0" rIns="0" bIns="0" rtlCol="0" anchor="t"/>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Rolling-shutter OCC</a:t>
            </a:r>
            <a:endParaRPr lang="en-US" sz="750" dirty="0"/>
          </a:p>
        </p:txBody>
      </p:sp>
      <p:sp>
        <p:nvSpPr>
          <p:cNvPr id="30" name="Text 28"/>
          <p:cNvSpPr/>
          <p:nvPr/>
        </p:nvSpPr>
        <p:spPr>
          <a:xfrm>
            <a:off x="3531766" y="2017588"/>
            <a:ext cx="1266304" cy="254645"/>
          </a:xfrm>
          <a:prstGeom prst="rect">
            <a:avLst/>
          </a:prstGeom>
          <a:noFill/>
        </p:spPr>
        <p:txBody>
          <a:bodyPr wrap="square" lIns="0" tIns="0" rIns="0" bIns="0" rtlCol="0" anchor="t">
            <a:normAutofit/>
          </a:bodyPr>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Smartphone camera receiver</a:t>
            </a:r>
            <a:endParaRPr lang="en-US" sz="750" dirty="0"/>
          </a:p>
        </p:txBody>
      </p:sp>
      <p:sp>
        <p:nvSpPr>
          <p:cNvPr id="31" name="Text 29"/>
          <p:cNvSpPr/>
          <p:nvPr/>
        </p:nvSpPr>
        <p:spPr>
          <a:xfrm>
            <a:off x="4997351" y="2017588"/>
            <a:ext cx="2537743" cy="127322"/>
          </a:xfrm>
          <a:prstGeom prst="rect">
            <a:avLst/>
          </a:prstGeom>
          <a:noFill/>
        </p:spPr>
        <p:txBody>
          <a:bodyPr wrap="none" lIns="0" tIns="0" rIns="0" bIns="0" rtlCol="0" anchor="t"/>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Exploited rolling shutter for high data rates</a:t>
            </a:r>
            <a:endParaRPr lang="en-US" sz="750" dirty="0"/>
          </a:p>
        </p:txBody>
      </p:sp>
      <p:sp>
        <p:nvSpPr>
          <p:cNvPr id="32" name="Text 30"/>
          <p:cNvSpPr/>
          <p:nvPr/>
        </p:nvSpPr>
        <p:spPr>
          <a:xfrm>
            <a:off x="7277174" y="2017588"/>
            <a:ext cx="1723504" cy="127322"/>
          </a:xfrm>
          <a:prstGeom prst="rect">
            <a:avLst/>
          </a:prstGeom>
          <a:noFill/>
        </p:spPr>
        <p:txBody>
          <a:bodyPr wrap="none" lIns="0" tIns="0" rIns="0" bIns="0" rtlCol="0" anchor="t"/>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Camera-based VLC</a:t>
            </a:r>
            <a:endParaRPr lang="en-US" sz="750" dirty="0"/>
          </a:p>
        </p:txBody>
      </p:sp>
      <p:sp>
        <p:nvSpPr>
          <p:cNvPr id="33" name="Text 31"/>
          <p:cNvSpPr/>
          <p:nvPr/>
        </p:nvSpPr>
        <p:spPr>
          <a:xfrm>
            <a:off x="600596" y="2370609"/>
            <a:ext cx="1266304" cy="254645"/>
          </a:xfrm>
          <a:prstGeom prst="rect">
            <a:avLst/>
          </a:prstGeom>
          <a:noFill/>
        </p:spPr>
        <p:txBody>
          <a:bodyPr wrap="square" lIns="0" tIns="0" rIns="0" bIns="0" rtlCol="0" anchor="t">
            <a:normAutofit/>
          </a:bodyPr>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Luo et al. (2018) — IEEE Access</a:t>
            </a:r>
            <a:endParaRPr lang="en-US" sz="750" dirty="0"/>
          </a:p>
        </p:txBody>
      </p:sp>
      <p:sp>
        <p:nvSpPr>
          <p:cNvPr id="34" name="Text 32"/>
          <p:cNvSpPr/>
          <p:nvPr/>
        </p:nvSpPr>
        <p:spPr>
          <a:xfrm>
            <a:off x="2066181" y="2370609"/>
            <a:ext cx="1723504" cy="127322"/>
          </a:xfrm>
          <a:prstGeom prst="rect">
            <a:avLst/>
          </a:prstGeom>
          <a:noFill/>
        </p:spPr>
        <p:txBody>
          <a:bodyPr wrap="none" lIns="0" tIns="0" rIns="0" bIns="0" rtlCol="0" anchor="t"/>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OCC synchronization</a:t>
            </a:r>
            <a:endParaRPr lang="en-US" sz="750" dirty="0"/>
          </a:p>
        </p:txBody>
      </p:sp>
      <p:sp>
        <p:nvSpPr>
          <p:cNvPr id="35" name="Text 33"/>
          <p:cNvSpPr/>
          <p:nvPr/>
        </p:nvSpPr>
        <p:spPr>
          <a:xfrm>
            <a:off x="3531766" y="2370609"/>
            <a:ext cx="1723504" cy="127322"/>
          </a:xfrm>
          <a:prstGeom prst="rect">
            <a:avLst/>
          </a:prstGeom>
          <a:noFill/>
        </p:spPr>
        <p:txBody>
          <a:bodyPr wrap="none" lIns="0" tIns="0" rIns="0" bIns="0" rtlCol="0" anchor="t"/>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Frame-based sync pattern</a:t>
            </a:r>
            <a:endParaRPr lang="en-US" sz="750" dirty="0"/>
          </a:p>
        </p:txBody>
      </p:sp>
      <p:sp>
        <p:nvSpPr>
          <p:cNvPr id="36" name="Text 34"/>
          <p:cNvSpPr/>
          <p:nvPr/>
        </p:nvSpPr>
        <p:spPr>
          <a:xfrm>
            <a:off x="4997351" y="2370609"/>
            <a:ext cx="2080543" cy="254645"/>
          </a:xfrm>
          <a:prstGeom prst="rect">
            <a:avLst/>
          </a:prstGeom>
          <a:noFill/>
        </p:spPr>
        <p:txBody>
          <a:bodyPr wrap="square" lIns="0" tIns="0" rIns="0" bIns="0" rtlCol="0" anchor="t">
            <a:normAutofit/>
          </a:bodyPr>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Proposed robust symbol synchronization method</a:t>
            </a:r>
            <a:endParaRPr lang="en-US" sz="750" dirty="0"/>
          </a:p>
        </p:txBody>
      </p:sp>
      <p:sp>
        <p:nvSpPr>
          <p:cNvPr id="37" name="Text 35"/>
          <p:cNvSpPr/>
          <p:nvPr/>
        </p:nvSpPr>
        <p:spPr>
          <a:xfrm>
            <a:off x="7277174" y="2370609"/>
            <a:ext cx="1723504" cy="127322"/>
          </a:xfrm>
          <a:prstGeom prst="rect">
            <a:avLst/>
          </a:prstGeom>
          <a:noFill/>
        </p:spPr>
        <p:txBody>
          <a:bodyPr wrap="none" lIns="0" tIns="0" rIns="0" bIns="0" rtlCol="0" anchor="t"/>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Signal synchronization</a:t>
            </a:r>
            <a:endParaRPr lang="en-US" sz="750" dirty="0"/>
          </a:p>
        </p:txBody>
      </p:sp>
      <p:sp>
        <p:nvSpPr>
          <p:cNvPr id="38" name="Text 36"/>
          <p:cNvSpPr/>
          <p:nvPr/>
        </p:nvSpPr>
        <p:spPr>
          <a:xfrm>
            <a:off x="600596" y="2723629"/>
            <a:ext cx="1266304" cy="254645"/>
          </a:xfrm>
          <a:prstGeom prst="rect">
            <a:avLst/>
          </a:prstGeom>
          <a:noFill/>
        </p:spPr>
        <p:txBody>
          <a:bodyPr wrap="square" lIns="0" tIns="0" rIns="0" bIns="0" rtlCol="0" anchor="t">
            <a:normAutofit/>
          </a:bodyPr>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Nguyen et al. (2020) — IEEE TWC</a:t>
            </a:r>
            <a:endParaRPr lang="en-US" sz="750" dirty="0"/>
          </a:p>
        </p:txBody>
      </p:sp>
      <p:sp>
        <p:nvSpPr>
          <p:cNvPr id="39" name="Text 37"/>
          <p:cNvSpPr/>
          <p:nvPr/>
        </p:nvSpPr>
        <p:spPr>
          <a:xfrm>
            <a:off x="2066181" y="2723629"/>
            <a:ext cx="1723504" cy="127322"/>
          </a:xfrm>
          <a:prstGeom prst="rect">
            <a:avLst/>
          </a:prstGeom>
          <a:noFill/>
        </p:spPr>
        <p:txBody>
          <a:bodyPr wrap="none" lIns="0" tIns="0" rIns="0" bIns="0" rtlCol="0" anchor="t"/>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OCC receiver design</a:t>
            </a:r>
            <a:endParaRPr lang="en-US" sz="750" dirty="0"/>
          </a:p>
        </p:txBody>
      </p:sp>
      <p:sp>
        <p:nvSpPr>
          <p:cNvPr id="40" name="Text 38"/>
          <p:cNvSpPr/>
          <p:nvPr/>
        </p:nvSpPr>
        <p:spPr>
          <a:xfrm>
            <a:off x="3531766" y="2723629"/>
            <a:ext cx="1266304" cy="254645"/>
          </a:xfrm>
          <a:prstGeom prst="rect">
            <a:avLst/>
          </a:prstGeom>
          <a:noFill/>
        </p:spPr>
        <p:txBody>
          <a:bodyPr wrap="square" lIns="0" tIns="0" rIns="0" bIns="0" rtlCol="0" anchor="t">
            <a:normAutofit/>
          </a:bodyPr>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ROI selection, signal extraction</a:t>
            </a:r>
            <a:endParaRPr lang="en-US" sz="750" dirty="0"/>
          </a:p>
        </p:txBody>
      </p:sp>
      <p:sp>
        <p:nvSpPr>
          <p:cNvPr id="41" name="Text 39"/>
          <p:cNvSpPr/>
          <p:nvPr/>
        </p:nvSpPr>
        <p:spPr>
          <a:xfrm>
            <a:off x="4997351" y="2723629"/>
            <a:ext cx="2537743" cy="127322"/>
          </a:xfrm>
          <a:prstGeom prst="rect">
            <a:avLst/>
          </a:prstGeom>
          <a:noFill/>
        </p:spPr>
        <p:txBody>
          <a:bodyPr wrap="none" lIns="0" tIns="0" rIns="0" bIns="0" rtlCol="0" anchor="t"/>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Optimized ROI detection for OCC receivers</a:t>
            </a:r>
            <a:endParaRPr lang="en-US" sz="750" dirty="0"/>
          </a:p>
        </p:txBody>
      </p:sp>
      <p:sp>
        <p:nvSpPr>
          <p:cNvPr id="42" name="Text 40"/>
          <p:cNvSpPr/>
          <p:nvPr/>
        </p:nvSpPr>
        <p:spPr>
          <a:xfrm>
            <a:off x="7277174" y="2723629"/>
            <a:ext cx="1723504" cy="127322"/>
          </a:xfrm>
          <a:prstGeom prst="rect">
            <a:avLst/>
          </a:prstGeom>
          <a:noFill/>
        </p:spPr>
        <p:txBody>
          <a:bodyPr wrap="none" lIns="0" tIns="0" rIns="0" bIns="0" rtlCol="0" anchor="t"/>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ROI &amp; signal extraction</a:t>
            </a:r>
            <a:endParaRPr lang="en-US" sz="750" dirty="0"/>
          </a:p>
        </p:txBody>
      </p:sp>
      <p:sp>
        <p:nvSpPr>
          <p:cNvPr id="43" name="Text 41"/>
          <p:cNvSpPr/>
          <p:nvPr/>
        </p:nvSpPr>
        <p:spPr>
          <a:xfrm>
            <a:off x="600596" y="3076649"/>
            <a:ext cx="1266304" cy="254645"/>
          </a:xfrm>
          <a:prstGeom prst="rect">
            <a:avLst/>
          </a:prstGeom>
          <a:noFill/>
        </p:spPr>
        <p:txBody>
          <a:bodyPr wrap="square" lIns="0" tIns="0" rIns="0" bIns="0" rtlCol="0" anchor="t">
            <a:normAutofit/>
          </a:bodyPr>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Wang et al. (2021) — IEEE IoT Journal</a:t>
            </a:r>
            <a:endParaRPr lang="en-US" sz="750" dirty="0"/>
          </a:p>
        </p:txBody>
      </p:sp>
      <p:sp>
        <p:nvSpPr>
          <p:cNvPr id="44" name="Text 42"/>
          <p:cNvSpPr/>
          <p:nvPr/>
        </p:nvSpPr>
        <p:spPr>
          <a:xfrm>
            <a:off x="2066181" y="3076649"/>
            <a:ext cx="1723504" cy="127322"/>
          </a:xfrm>
          <a:prstGeom prst="rect">
            <a:avLst/>
          </a:prstGeom>
          <a:noFill/>
        </p:spPr>
        <p:txBody>
          <a:bodyPr wrap="none" lIns="0" tIns="0" rIns="0" bIns="0" rtlCol="0" anchor="t"/>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ML-assisted OCC</a:t>
            </a:r>
            <a:endParaRPr lang="en-US" sz="750" dirty="0"/>
          </a:p>
        </p:txBody>
      </p:sp>
      <p:sp>
        <p:nvSpPr>
          <p:cNvPr id="45" name="Text 43"/>
          <p:cNvSpPr/>
          <p:nvPr/>
        </p:nvSpPr>
        <p:spPr>
          <a:xfrm>
            <a:off x="3531766" y="3076649"/>
            <a:ext cx="1723504" cy="127322"/>
          </a:xfrm>
          <a:prstGeom prst="rect">
            <a:avLst/>
          </a:prstGeom>
          <a:noFill/>
        </p:spPr>
        <p:txBody>
          <a:bodyPr wrap="none" lIns="0" tIns="0" rIns="0" bIns="0" rtlCol="0" anchor="t"/>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Neural network classifier</a:t>
            </a:r>
            <a:endParaRPr lang="en-US" sz="750" dirty="0"/>
          </a:p>
        </p:txBody>
      </p:sp>
      <p:sp>
        <p:nvSpPr>
          <p:cNvPr id="46" name="Text 44"/>
          <p:cNvSpPr/>
          <p:nvPr/>
        </p:nvSpPr>
        <p:spPr>
          <a:xfrm>
            <a:off x="4997351" y="3076649"/>
            <a:ext cx="2080543" cy="254645"/>
          </a:xfrm>
          <a:prstGeom prst="rect">
            <a:avLst/>
          </a:prstGeom>
          <a:noFill/>
        </p:spPr>
        <p:txBody>
          <a:bodyPr wrap="square" lIns="0" tIns="0" rIns="0" bIns="0" rtlCol="0" anchor="t">
            <a:normAutofit/>
          </a:bodyPr>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Applied deep learning to OCC symbol detection</a:t>
            </a:r>
            <a:endParaRPr lang="en-US" sz="750" dirty="0"/>
          </a:p>
        </p:txBody>
      </p:sp>
      <p:sp>
        <p:nvSpPr>
          <p:cNvPr id="47" name="Text 45"/>
          <p:cNvSpPr/>
          <p:nvPr/>
        </p:nvSpPr>
        <p:spPr>
          <a:xfrm>
            <a:off x="7277174" y="3076649"/>
            <a:ext cx="1723504" cy="127322"/>
          </a:xfrm>
          <a:prstGeom prst="rect">
            <a:avLst/>
          </a:prstGeom>
          <a:noFill/>
        </p:spPr>
        <p:txBody>
          <a:bodyPr wrap="none" lIns="0" tIns="0" rIns="0" bIns="0" rtlCol="0" anchor="t"/>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ML-assisted optical comm.</a:t>
            </a:r>
            <a:endParaRPr lang="en-US" sz="750" dirty="0"/>
          </a:p>
        </p:txBody>
      </p:sp>
      <p:sp>
        <p:nvSpPr>
          <p:cNvPr id="48" name="Text 46"/>
          <p:cNvSpPr/>
          <p:nvPr/>
        </p:nvSpPr>
        <p:spPr>
          <a:xfrm>
            <a:off x="600596" y="3429670"/>
            <a:ext cx="1266304" cy="254645"/>
          </a:xfrm>
          <a:prstGeom prst="rect">
            <a:avLst/>
          </a:prstGeom>
          <a:noFill/>
        </p:spPr>
        <p:txBody>
          <a:bodyPr wrap="square" lIns="0" tIns="0" rIns="0" bIns="0" rtlCol="0" anchor="t">
            <a:normAutofit/>
          </a:bodyPr>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Yamaguchi et al. (2017) — IEEE ICC</a:t>
            </a:r>
            <a:endParaRPr lang="en-US" sz="750" dirty="0"/>
          </a:p>
        </p:txBody>
      </p:sp>
      <p:sp>
        <p:nvSpPr>
          <p:cNvPr id="49" name="Text 47"/>
          <p:cNvSpPr/>
          <p:nvPr/>
        </p:nvSpPr>
        <p:spPr>
          <a:xfrm>
            <a:off x="2066181" y="3429670"/>
            <a:ext cx="1266304" cy="254645"/>
          </a:xfrm>
          <a:prstGeom prst="rect">
            <a:avLst/>
          </a:prstGeom>
          <a:noFill/>
        </p:spPr>
        <p:txBody>
          <a:bodyPr wrap="square" lIns="0" tIns="0" rIns="0" bIns="0" rtlCol="0" anchor="t">
            <a:normAutofit/>
          </a:bodyPr>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LED identification via camera</a:t>
            </a:r>
            <a:endParaRPr lang="en-US" sz="750" dirty="0"/>
          </a:p>
        </p:txBody>
      </p:sp>
      <p:sp>
        <p:nvSpPr>
          <p:cNvPr id="50" name="Text 48"/>
          <p:cNvSpPr/>
          <p:nvPr/>
        </p:nvSpPr>
        <p:spPr>
          <a:xfrm>
            <a:off x="3531766" y="3429670"/>
            <a:ext cx="1266304" cy="254645"/>
          </a:xfrm>
          <a:prstGeom prst="rect">
            <a:avLst/>
          </a:prstGeom>
          <a:noFill/>
        </p:spPr>
        <p:txBody>
          <a:bodyPr wrap="square" lIns="0" tIns="0" rIns="0" bIns="0" rtlCol="0" anchor="t">
            <a:normAutofit/>
          </a:bodyPr>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Intensity modulation, image processing</a:t>
            </a:r>
            <a:endParaRPr lang="en-US" sz="750" dirty="0"/>
          </a:p>
        </p:txBody>
      </p:sp>
      <p:sp>
        <p:nvSpPr>
          <p:cNvPr id="51" name="Text 49"/>
          <p:cNvSpPr/>
          <p:nvPr/>
        </p:nvSpPr>
        <p:spPr>
          <a:xfrm>
            <a:off x="4997351" y="3429670"/>
            <a:ext cx="2537743" cy="127322"/>
          </a:xfrm>
          <a:prstGeom prst="rect">
            <a:avLst/>
          </a:prstGeom>
          <a:noFill/>
        </p:spPr>
        <p:txBody>
          <a:bodyPr wrap="none" lIns="0" tIns="0" rIns="0" bIns="0" rtlCol="0" anchor="t"/>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Multi-LED OCC system with spatial separation</a:t>
            </a:r>
            <a:endParaRPr lang="en-US" sz="750" dirty="0"/>
          </a:p>
        </p:txBody>
      </p:sp>
      <p:sp>
        <p:nvSpPr>
          <p:cNvPr id="52" name="Text 50"/>
          <p:cNvSpPr/>
          <p:nvPr/>
        </p:nvSpPr>
        <p:spPr>
          <a:xfrm>
            <a:off x="7277174" y="3429670"/>
            <a:ext cx="1723504" cy="127322"/>
          </a:xfrm>
          <a:prstGeom prst="rect">
            <a:avLst/>
          </a:prstGeom>
          <a:noFill/>
        </p:spPr>
        <p:txBody>
          <a:bodyPr wrap="none" lIns="0" tIns="0" rIns="0" bIns="0" rtlCol="0" anchor="t"/>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LED-to-camera comm.</a:t>
            </a:r>
            <a:endParaRPr lang="en-US" sz="750" dirty="0"/>
          </a:p>
        </p:txBody>
      </p:sp>
      <p:sp>
        <p:nvSpPr>
          <p:cNvPr id="53" name="Text 51"/>
          <p:cNvSpPr/>
          <p:nvPr/>
        </p:nvSpPr>
        <p:spPr>
          <a:xfrm>
            <a:off x="600596" y="3782690"/>
            <a:ext cx="1266304" cy="254645"/>
          </a:xfrm>
          <a:prstGeom prst="rect">
            <a:avLst/>
          </a:prstGeom>
          <a:noFill/>
        </p:spPr>
        <p:txBody>
          <a:bodyPr wrap="square" lIns="0" tIns="0" rIns="0" bIns="0" rtlCol="0" anchor="t">
            <a:normAutofit/>
          </a:bodyPr>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Suparna et al. (2019) — IEEE VTC</a:t>
            </a:r>
            <a:endParaRPr lang="en-US" sz="750" dirty="0"/>
          </a:p>
        </p:txBody>
      </p:sp>
      <p:sp>
        <p:nvSpPr>
          <p:cNvPr id="54" name="Text 52"/>
          <p:cNvSpPr/>
          <p:nvPr/>
        </p:nvSpPr>
        <p:spPr>
          <a:xfrm>
            <a:off x="2066181" y="3782690"/>
            <a:ext cx="1723504" cy="127322"/>
          </a:xfrm>
          <a:prstGeom prst="rect">
            <a:avLst/>
          </a:prstGeom>
          <a:noFill/>
        </p:spPr>
        <p:txBody>
          <a:bodyPr wrap="none" lIns="0" tIns="0" rIns="0" bIns="0" rtlCol="0" anchor="t"/>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OCC under ambient light</a:t>
            </a:r>
            <a:endParaRPr lang="en-US" sz="750" dirty="0"/>
          </a:p>
        </p:txBody>
      </p:sp>
      <p:sp>
        <p:nvSpPr>
          <p:cNvPr id="55" name="Text 53"/>
          <p:cNvSpPr/>
          <p:nvPr/>
        </p:nvSpPr>
        <p:spPr>
          <a:xfrm>
            <a:off x="3531766" y="3782690"/>
            <a:ext cx="1723504" cy="127322"/>
          </a:xfrm>
          <a:prstGeom prst="rect">
            <a:avLst/>
          </a:prstGeom>
          <a:noFill/>
        </p:spPr>
        <p:txBody>
          <a:bodyPr wrap="none" lIns="0" tIns="0" rIns="0" bIns="0" rtlCol="0" anchor="t"/>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Adaptive thresholding</a:t>
            </a:r>
            <a:endParaRPr lang="en-US" sz="750" dirty="0"/>
          </a:p>
        </p:txBody>
      </p:sp>
      <p:sp>
        <p:nvSpPr>
          <p:cNvPr id="56" name="Text 54"/>
          <p:cNvSpPr/>
          <p:nvPr/>
        </p:nvSpPr>
        <p:spPr>
          <a:xfrm>
            <a:off x="4997351" y="3782690"/>
            <a:ext cx="2080543" cy="254645"/>
          </a:xfrm>
          <a:prstGeom prst="rect">
            <a:avLst/>
          </a:prstGeom>
          <a:noFill/>
        </p:spPr>
        <p:txBody>
          <a:bodyPr wrap="square" lIns="0" tIns="0" rIns="0" bIns="0" rtlCol="0" anchor="t">
            <a:normAutofit/>
          </a:bodyPr>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Improved robustness against ambient illumination</a:t>
            </a:r>
            <a:endParaRPr lang="en-US" sz="750" dirty="0"/>
          </a:p>
        </p:txBody>
      </p:sp>
      <p:sp>
        <p:nvSpPr>
          <p:cNvPr id="57" name="Text 55"/>
          <p:cNvSpPr/>
          <p:nvPr/>
        </p:nvSpPr>
        <p:spPr>
          <a:xfrm>
            <a:off x="7277174" y="3782690"/>
            <a:ext cx="1723504" cy="127322"/>
          </a:xfrm>
          <a:prstGeom prst="rect">
            <a:avLst/>
          </a:prstGeom>
          <a:noFill/>
        </p:spPr>
        <p:txBody>
          <a:bodyPr wrap="none" lIns="0" tIns="0" rIns="0" bIns="0" rtlCol="0" anchor="t"/>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Signal recovery</a:t>
            </a:r>
            <a:endParaRPr lang="en-US" sz="750" dirty="0"/>
          </a:p>
        </p:txBody>
      </p:sp>
      <p:sp>
        <p:nvSpPr>
          <p:cNvPr id="58" name="Text 56"/>
          <p:cNvSpPr/>
          <p:nvPr/>
        </p:nvSpPr>
        <p:spPr>
          <a:xfrm>
            <a:off x="496119" y="4193977"/>
            <a:ext cx="8151763" cy="155674"/>
          </a:xfrm>
          <a:prstGeom prst="rect">
            <a:avLst/>
          </a:prstGeom>
          <a:noFill/>
        </p:spPr>
        <p:txBody>
          <a:bodyPr wrap="none" lIns="0" tIns="0" rIns="0" bIns="0" rtlCol="0" anchor="t"/>
          <a:lstStyle/>
          <a:p>
            <a:pPr marL="0" indent="0" algn="l">
              <a:lnSpc>
                <a:spcPct val="104000"/>
              </a:lnSpc>
              <a:buNone/>
            </a:pPr>
            <a:r>
              <a:rPr lang="en-US" sz="950" dirty="0">
                <a:solidFill>
                  <a:srgbClr val="2E3C4E"/>
                </a:solidFill>
                <a:latin typeface="Host Grotesk Medium" panose="020B0504030402000203" pitchFamily="34" charset="0"/>
                <a:ea typeface="Host Grotesk Medium" panose="020B0504030402000203" pitchFamily="34" charset="-122"/>
                <a:cs typeface="Host Grotesk Medium" panose="020B0504030402000203" pitchFamily="34" charset="-120"/>
              </a:rPr>
              <a:t>Research Gap</a:t>
            </a:r>
            <a:endParaRPr lang="en-US" sz="950" dirty="0"/>
          </a:p>
        </p:txBody>
      </p:sp>
      <p:sp>
        <p:nvSpPr>
          <p:cNvPr id="59" name="Text 57"/>
          <p:cNvSpPr/>
          <p:nvPr/>
        </p:nvSpPr>
        <p:spPr>
          <a:xfrm>
            <a:off x="496119" y="4454723"/>
            <a:ext cx="8151763" cy="254645"/>
          </a:xfrm>
          <a:prstGeom prst="rect">
            <a:avLst/>
          </a:prstGeom>
          <a:noFill/>
        </p:spPr>
        <p:txBody>
          <a:bodyPr wrap="square" lIns="0" tIns="0" rIns="0" bIns="0" rtlCol="0" anchor="t">
            <a:normAutofit/>
          </a:bodyPr>
          <a:lstStyle/>
          <a:p>
            <a:pPr marL="0" indent="0" algn="l">
              <a:lnSpc>
                <a:spcPct val="106000"/>
              </a:lnSpc>
              <a:buNone/>
            </a:pPr>
            <a:r>
              <a:rPr lang="en-US" sz="750" dirty="0">
                <a:solidFill>
                  <a:srgbClr val="384653"/>
                </a:solidFill>
                <a:latin typeface="Roboto" panose="02000000000000000000" pitchFamily="34" charset="0"/>
                <a:ea typeface="Roboto" panose="02000000000000000000" pitchFamily="34" charset="-122"/>
                <a:cs typeface="Roboto" panose="02000000000000000000" pitchFamily="34" charset="-120"/>
              </a:rPr>
              <a:t>Existing work demonstrates camera-based optical communication and signal recovery, but this project focuses on building a reproducible offline software pipeline for decoding provided OOK-encoded OCC videos, with explicit analysis of ROI selection, temporal signal extraction, synchronization, robustness and ML-assisted decoding.</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389855"/>
            <a:ext cx="8151763" cy="221456"/>
          </a:xfrm>
          <a:prstGeom prst="rect">
            <a:avLst/>
          </a:prstGeom>
          <a:noFill/>
        </p:spPr>
        <p:txBody>
          <a:bodyPr wrap="none" lIns="0" tIns="0" rIns="0" bIns="0" rtlCol="0" anchor="t"/>
          <a:lstStyle/>
          <a:p>
            <a:pPr marL="0" indent="0" algn="l">
              <a:lnSpc>
                <a:spcPct val="104000"/>
              </a:lnSpc>
              <a:buNone/>
            </a:pPr>
            <a:r>
              <a:rPr lang="en-US" sz="1350" dirty="0">
                <a:solidFill>
                  <a:srgbClr val="2E3C4E"/>
                </a:solidFill>
                <a:latin typeface="Host Grotesk Medium" panose="020B0504030402000203" pitchFamily="34" charset="0"/>
                <a:ea typeface="Host Grotesk Medium" panose="020B0504030402000203" pitchFamily="34" charset="-122"/>
                <a:cs typeface="Host Grotesk Medium" panose="020B0504030402000203" pitchFamily="34" charset="-120"/>
              </a:rPr>
              <a:t>Candidate ML &amp; Signal-Processing Methods</a:t>
            </a:r>
            <a:endParaRPr lang="en-US" sz="1350" dirty="0"/>
          </a:p>
        </p:txBody>
      </p:sp>
      <p:sp>
        <p:nvSpPr>
          <p:cNvPr id="3" name="Shape 1"/>
          <p:cNvSpPr/>
          <p:nvPr/>
        </p:nvSpPr>
        <p:spPr>
          <a:xfrm>
            <a:off x="445071" y="664443"/>
            <a:ext cx="4091508" cy="1218902"/>
          </a:xfrm>
          <a:prstGeom prst="roundRect">
            <a:avLst>
              <a:gd name="adj" fmla="val 4187"/>
            </a:avLst>
          </a:prstGeom>
          <a:solidFill>
            <a:srgbClr val="95CCDA"/>
          </a:solidFill>
        </p:spPr>
      </p:sp>
      <p:sp>
        <p:nvSpPr>
          <p:cNvPr id="4" name="Text 2"/>
          <p:cNvSpPr/>
          <p:nvPr/>
        </p:nvSpPr>
        <p:spPr>
          <a:xfrm>
            <a:off x="515913" y="699864"/>
            <a:ext cx="3949824" cy="110728"/>
          </a:xfrm>
          <a:prstGeom prst="rect">
            <a:avLst/>
          </a:prstGeom>
          <a:noFill/>
        </p:spPr>
        <p:txBody>
          <a:bodyPr wrap="none" lIns="0" tIns="0" rIns="0" bIns="0" rtlCol="0" anchor="t"/>
          <a:lstStyle/>
          <a:p>
            <a:pPr marL="0" indent="0" algn="l">
              <a:lnSpc>
                <a:spcPct val="104000"/>
              </a:lnSpc>
              <a:buNone/>
            </a:pPr>
            <a:r>
              <a:rPr lang="en-US" sz="650" dirty="0">
                <a:solidFill>
                  <a:srgbClr val="2E3C4E"/>
                </a:solidFill>
                <a:latin typeface="Host Grotesk Medium" panose="020B0504030402000203" pitchFamily="34" charset="0"/>
                <a:ea typeface="Host Grotesk Medium" panose="020B0504030402000203" pitchFamily="34" charset="-122"/>
                <a:cs typeface="Host Grotesk Medium" panose="020B0504030402000203" pitchFamily="34" charset="-120"/>
              </a:rPr>
              <a:t>A. Baseline</a:t>
            </a:r>
            <a:endParaRPr lang="en-US" sz="650" dirty="0"/>
          </a:p>
        </p:txBody>
      </p:sp>
      <p:sp>
        <p:nvSpPr>
          <p:cNvPr id="5" name="Text 3"/>
          <p:cNvSpPr/>
          <p:nvPr/>
        </p:nvSpPr>
        <p:spPr>
          <a:xfrm>
            <a:off x="515913" y="846013"/>
            <a:ext cx="3949824" cy="540395"/>
          </a:xfrm>
          <a:prstGeom prst="rect">
            <a:avLst/>
          </a:prstGeom>
          <a:noFill/>
        </p:spPr>
        <p:txBody>
          <a:bodyPr wrap="square" lIns="0" tIns="28353" rIns="0" bIns="0" rtlCol="0" anchor="t">
            <a:normAutofit/>
          </a:bodyPr>
          <a:lstStyle/>
          <a:p>
            <a:pPr marL="111760" indent="-111760" algn="l">
              <a:lnSpc>
                <a:spcPct val="94000"/>
              </a:lnSpc>
              <a:buSzPct val="100000"/>
              <a:buChar char="•"/>
            </a:pPr>
            <a:r>
              <a:rPr lang="en-US" sz="550" dirty="0">
                <a:solidFill>
                  <a:srgbClr val="000000"/>
                </a:solidFill>
                <a:latin typeface="Roboto" panose="02000000000000000000" pitchFamily="34" charset="0"/>
                <a:ea typeface="Roboto" panose="02000000000000000000" pitchFamily="34" charset="-122"/>
                <a:cs typeface="Roboto" panose="02000000000000000000" pitchFamily="34" charset="-120"/>
              </a:rPr>
              <a:t>Fixed threshold OOK decoding</a:t>
            </a:r>
            <a:endParaRPr lang="en-US" sz="550" dirty="0"/>
          </a:p>
          <a:p>
            <a:pPr marL="111760" indent="-111760" algn="l">
              <a:lnSpc>
                <a:spcPct val="94000"/>
              </a:lnSpc>
              <a:buSzPct val="100000"/>
              <a:buChar char="•"/>
            </a:pPr>
            <a:r>
              <a:rPr lang="en-US" sz="550" dirty="0">
                <a:solidFill>
                  <a:srgbClr val="000000"/>
                </a:solidFill>
                <a:latin typeface="Roboto" panose="02000000000000000000" pitchFamily="34" charset="0"/>
                <a:ea typeface="Roboto" panose="02000000000000000000" pitchFamily="34" charset="-122"/>
                <a:cs typeface="Roboto" panose="02000000000000000000" pitchFamily="34" charset="-120"/>
              </a:rPr>
              <a:t>Adaptive thresholding</a:t>
            </a:r>
            <a:endParaRPr lang="en-US" sz="550" dirty="0"/>
          </a:p>
          <a:p>
            <a:pPr marL="111760" indent="-111760" algn="l">
              <a:lnSpc>
                <a:spcPct val="94000"/>
              </a:lnSpc>
              <a:buSzPct val="100000"/>
              <a:buChar char="•"/>
            </a:pPr>
            <a:r>
              <a:rPr lang="en-US" sz="550" dirty="0">
                <a:solidFill>
                  <a:srgbClr val="000000"/>
                </a:solidFill>
                <a:latin typeface="Roboto" panose="02000000000000000000" pitchFamily="34" charset="0"/>
                <a:ea typeface="Roboto" panose="02000000000000000000" pitchFamily="34" charset="-122"/>
                <a:cs typeface="Roboto" panose="02000000000000000000" pitchFamily="34" charset="-120"/>
              </a:rPr>
              <a:t>Smoothing</a:t>
            </a:r>
            <a:endParaRPr lang="en-US" sz="550" dirty="0"/>
          </a:p>
          <a:p>
            <a:pPr marL="111760" indent="-111760" algn="l">
              <a:lnSpc>
                <a:spcPct val="94000"/>
              </a:lnSpc>
              <a:buSzPct val="100000"/>
              <a:buChar char="•"/>
            </a:pPr>
            <a:r>
              <a:rPr lang="en-US" sz="550" dirty="0">
                <a:solidFill>
                  <a:srgbClr val="000000"/>
                </a:solidFill>
                <a:latin typeface="Roboto" panose="02000000000000000000" pitchFamily="34" charset="0"/>
                <a:ea typeface="Roboto" panose="02000000000000000000" pitchFamily="34" charset="-122"/>
                <a:cs typeface="Roboto" panose="02000000000000000000" pitchFamily="34" charset="-120"/>
              </a:rPr>
              <a:t>Normalization</a:t>
            </a:r>
            <a:endParaRPr lang="en-US" sz="550" dirty="0"/>
          </a:p>
          <a:p>
            <a:pPr marL="111760" indent="-111760" algn="l">
              <a:lnSpc>
                <a:spcPct val="94000"/>
              </a:lnSpc>
              <a:buSzPct val="100000"/>
              <a:buChar char="•"/>
            </a:pPr>
            <a:r>
              <a:rPr lang="en-US" sz="550" dirty="0">
                <a:solidFill>
                  <a:srgbClr val="000000"/>
                </a:solidFill>
                <a:latin typeface="Roboto" panose="02000000000000000000" pitchFamily="34" charset="0"/>
                <a:ea typeface="Roboto" panose="02000000000000000000" pitchFamily="34" charset="-122"/>
                <a:cs typeface="Roboto" panose="02000000000000000000" pitchFamily="34" charset="-120"/>
              </a:rPr>
              <a:t>Transition detection</a:t>
            </a:r>
            <a:endParaRPr lang="en-US" sz="550" dirty="0"/>
          </a:p>
          <a:p>
            <a:pPr marL="111760" indent="-111760" algn="l">
              <a:lnSpc>
                <a:spcPct val="94000"/>
              </a:lnSpc>
              <a:buSzPct val="100000"/>
              <a:buChar char="•"/>
            </a:pPr>
            <a:r>
              <a:rPr lang="en-US" sz="550" dirty="0">
                <a:solidFill>
                  <a:srgbClr val="000000"/>
                </a:solidFill>
                <a:latin typeface="Roboto" panose="02000000000000000000" pitchFamily="34" charset="0"/>
                <a:ea typeface="Roboto" panose="02000000000000000000" pitchFamily="34" charset="-122"/>
                <a:cs typeface="Roboto" panose="02000000000000000000" pitchFamily="34" charset="-120"/>
              </a:rPr>
              <a:t>Symbol synchronization</a:t>
            </a:r>
            <a:endParaRPr lang="en-US" sz="550" dirty="0"/>
          </a:p>
        </p:txBody>
      </p:sp>
      <p:sp>
        <p:nvSpPr>
          <p:cNvPr id="6" name="Text 4"/>
          <p:cNvSpPr/>
          <p:nvPr/>
        </p:nvSpPr>
        <p:spPr>
          <a:xfrm>
            <a:off x="4663232" y="699864"/>
            <a:ext cx="3989412" cy="110728"/>
          </a:xfrm>
          <a:prstGeom prst="rect">
            <a:avLst/>
          </a:prstGeom>
          <a:noFill/>
        </p:spPr>
        <p:txBody>
          <a:bodyPr wrap="none" lIns="0" tIns="0" rIns="0" bIns="0" rtlCol="0" anchor="t"/>
          <a:lstStyle/>
          <a:p>
            <a:pPr marL="0" indent="0" algn="l">
              <a:lnSpc>
                <a:spcPct val="104000"/>
              </a:lnSpc>
              <a:buNone/>
            </a:pPr>
            <a:r>
              <a:rPr lang="en-US" sz="650" dirty="0">
                <a:solidFill>
                  <a:srgbClr val="2E3C4E"/>
                </a:solidFill>
                <a:latin typeface="Host Grotesk Medium" panose="020B0504030402000203" pitchFamily="34" charset="0"/>
                <a:ea typeface="Host Grotesk Medium" panose="020B0504030402000203" pitchFamily="34" charset="-122"/>
                <a:cs typeface="Host Grotesk Medium" panose="020B0504030402000203" pitchFamily="34" charset="-120"/>
              </a:rPr>
              <a:t>B. Classical ML</a:t>
            </a:r>
            <a:endParaRPr lang="en-US" sz="650" dirty="0"/>
          </a:p>
        </p:txBody>
      </p:sp>
      <p:sp>
        <p:nvSpPr>
          <p:cNvPr id="7" name="Text 5"/>
          <p:cNvSpPr/>
          <p:nvPr/>
        </p:nvSpPr>
        <p:spPr>
          <a:xfrm>
            <a:off x="4663232" y="846013"/>
            <a:ext cx="4446612" cy="79772"/>
          </a:xfrm>
          <a:prstGeom prst="rect">
            <a:avLst/>
          </a:prstGeom>
          <a:noFill/>
        </p:spPr>
        <p:txBody>
          <a:bodyPr wrap="none" lIns="0" tIns="0" rIns="0" bIns="0" rtlCol="0" anchor="t"/>
          <a:lstStyle/>
          <a:p>
            <a:pPr marL="0" indent="0" algn="l">
              <a:lnSpc>
                <a:spcPct val="94000"/>
              </a:lnSpc>
              <a:buNone/>
            </a:pPr>
            <a:r>
              <a:rPr lang="en-US" sz="550" dirty="0">
                <a:solidFill>
                  <a:srgbClr val="384653"/>
                </a:solidFill>
                <a:latin typeface="Roboto" panose="02000000000000000000" pitchFamily="34" charset="0"/>
                <a:ea typeface="Roboto" panose="02000000000000000000" pitchFamily="34" charset="-122"/>
                <a:cs typeface="Roboto" panose="02000000000000000000" pitchFamily="34" charset="-120"/>
              </a:rPr>
              <a:t>Potential candidates:</a:t>
            </a:r>
            <a:endParaRPr lang="en-US" sz="550" dirty="0"/>
          </a:p>
        </p:txBody>
      </p:sp>
      <p:sp>
        <p:nvSpPr>
          <p:cNvPr id="8" name="Text 6"/>
          <p:cNvSpPr/>
          <p:nvPr/>
        </p:nvSpPr>
        <p:spPr>
          <a:xfrm>
            <a:off x="4663232" y="957635"/>
            <a:ext cx="3989412" cy="448270"/>
          </a:xfrm>
          <a:prstGeom prst="rect">
            <a:avLst/>
          </a:prstGeom>
          <a:noFill/>
        </p:spPr>
        <p:txBody>
          <a:bodyPr wrap="square" lIns="0" tIns="28353" rIns="0" bIns="0" rtlCol="0" anchor="t">
            <a:normAutofit/>
          </a:bodyPr>
          <a:lstStyle/>
          <a:p>
            <a:pPr marL="111760" indent="-111760" algn="l">
              <a:lnSpc>
                <a:spcPct val="94000"/>
              </a:lnSpc>
              <a:buSzPct val="100000"/>
              <a:buChar char="•"/>
            </a:pPr>
            <a:r>
              <a:rPr lang="en-US" sz="550" dirty="0">
                <a:solidFill>
                  <a:srgbClr val="384653"/>
                </a:solidFill>
                <a:latin typeface="Roboto" panose="02000000000000000000" pitchFamily="34" charset="0"/>
                <a:ea typeface="Roboto" panose="02000000000000000000" pitchFamily="34" charset="-122"/>
                <a:cs typeface="Roboto" panose="02000000000000000000" pitchFamily="34" charset="-120"/>
              </a:rPr>
              <a:t>Logistic Regression</a:t>
            </a:r>
            <a:endParaRPr lang="en-US" sz="550" dirty="0"/>
          </a:p>
          <a:p>
            <a:pPr marL="111760" indent="-111760" algn="l">
              <a:lnSpc>
                <a:spcPct val="94000"/>
              </a:lnSpc>
              <a:buSzPct val="100000"/>
              <a:buChar char="•"/>
            </a:pPr>
            <a:r>
              <a:rPr lang="en-US" sz="550" dirty="0">
                <a:solidFill>
                  <a:srgbClr val="384653"/>
                </a:solidFill>
                <a:latin typeface="Roboto" panose="02000000000000000000" pitchFamily="34" charset="0"/>
                <a:ea typeface="Roboto" panose="02000000000000000000" pitchFamily="34" charset="-122"/>
                <a:cs typeface="Roboto" panose="02000000000000000000" pitchFamily="34" charset="-120"/>
              </a:rPr>
              <a:t>Decision Tree</a:t>
            </a:r>
            <a:endParaRPr lang="en-US" sz="550" dirty="0"/>
          </a:p>
          <a:p>
            <a:pPr marL="111760" indent="-111760" algn="l">
              <a:lnSpc>
                <a:spcPct val="94000"/>
              </a:lnSpc>
              <a:buSzPct val="100000"/>
              <a:buChar char="•"/>
            </a:pPr>
            <a:r>
              <a:rPr lang="en-US" sz="550" dirty="0">
                <a:solidFill>
                  <a:srgbClr val="384653"/>
                </a:solidFill>
                <a:latin typeface="Roboto" panose="02000000000000000000" pitchFamily="34" charset="0"/>
                <a:ea typeface="Roboto" panose="02000000000000000000" pitchFamily="34" charset="-122"/>
                <a:cs typeface="Roboto" panose="02000000000000000000" pitchFamily="34" charset="-120"/>
              </a:rPr>
              <a:t>Random Forest</a:t>
            </a:r>
            <a:endParaRPr lang="en-US" sz="550" dirty="0"/>
          </a:p>
          <a:p>
            <a:pPr marL="111760" indent="-111760" algn="l">
              <a:lnSpc>
                <a:spcPct val="94000"/>
              </a:lnSpc>
              <a:buSzPct val="100000"/>
              <a:buChar char="•"/>
            </a:pPr>
            <a:r>
              <a:rPr lang="en-US" sz="550" dirty="0">
                <a:solidFill>
                  <a:srgbClr val="384653"/>
                </a:solidFill>
                <a:latin typeface="Roboto" panose="02000000000000000000" pitchFamily="34" charset="0"/>
                <a:ea typeface="Roboto" panose="02000000000000000000" pitchFamily="34" charset="-122"/>
                <a:cs typeface="Roboto" panose="02000000000000000000" pitchFamily="34" charset="-120"/>
              </a:rPr>
              <a:t>SVM</a:t>
            </a:r>
            <a:endParaRPr lang="en-US" sz="550" dirty="0"/>
          </a:p>
          <a:p>
            <a:pPr marL="111760" indent="-111760" algn="l">
              <a:lnSpc>
                <a:spcPct val="94000"/>
              </a:lnSpc>
              <a:buSzPct val="100000"/>
              <a:buChar char="•"/>
            </a:pPr>
            <a:r>
              <a:rPr lang="en-US" sz="550" dirty="0">
                <a:solidFill>
                  <a:srgbClr val="384653"/>
                </a:solidFill>
                <a:latin typeface="Roboto" panose="02000000000000000000" pitchFamily="34" charset="0"/>
                <a:ea typeface="Roboto" panose="02000000000000000000" pitchFamily="34" charset="-122"/>
                <a:cs typeface="Roboto" panose="02000000000000000000" pitchFamily="34" charset="-120"/>
              </a:rPr>
              <a:t>KNN</a:t>
            </a:r>
            <a:endParaRPr lang="en-US" sz="550" dirty="0"/>
          </a:p>
        </p:txBody>
      </p:sp>
      <p:sp>
        <p:nvSpPr>
          <p:cNvPr id="9" name="Text 7"/>
          <p:cNvSpPr/>
          <p:nvPr/>
        </p:nvSpPr>
        <p:spPr>
          <a:xfrm>
            <a:off x="4663232" y="1441326"/>
            <a:ext cx="3989412" cy="110728"/>
          </a:xfrm>
          <a:prstGeom prst="rect">
            <a:avLst/>
          </a:prstGeom>
          <a:noFill/>
        </p:spPr>
        <p:txBody>
          <a:bodyPr wrap="none" lIns="0" tIns="0" rIns="0" bIns="0" rtlCol="0" anchor="t"/>
          <a:lstStyle/>
          <a:p>
            <a:pPr marL="0" indent="0" algn="l">
              <a:lnSpc>
                <a:spcPct val="104000"/>
              </a:lnSpc>
              <a:buNone/>
            </a:pPr>
            <a:r>
              <a:rPr lang="en-US" sz="650" dirty="0">
                <a:solidFill>
                  <a:srgbClr val="2E3C4E"/>
                </a:solidFill>
                <a:latin typeface="Host Grotesk Medium" panose="020B0504030402000203" pitchFamily="34" charset="0"/>
                <a:ea typeface="Host Grotesk Medium" panose="020B0504030402000203" pitchFamily="34" charset="-122"/>
                <a:cs typeface="Host Grotesk Medium" panose="020B0504030402000203" pitchFamily="34" charset="-120"/>
              </a:rPr>
              <a:t>C. Sequential / Deep Learning</a:t>
            </a:r>
            <a:endParaRPr lang="en-US" sz="650" dirty="0"/>
          </a:p>
        </p:txBody>
      </p:sp>
      <p:sp>
        <p:nvSpPr>
          <p:cNvPr id="10" name="Text 8"/>
          <p:cNvSpPr/>
          <p:nvPr/>
        </p:nvSpPr>
        <p:spPr>
          <a:xfrm>
            <a:off x="4663232" y="1587475"/>
            <a:ext cx="4446612" cy="79772"/>
          </a:xfrm>
          <a:prstGeom prst="rect">
            <a:avLst/>
          </a:prstGeom>
          <a:noFill/>
        </p:spPr>
        <p:txBody>
          <a:bodyPr wrap="none" lIns="0" tIns="0" rIns="0" bIns="0" rtlCol="0" anchor="t"/>
          <a:lstStyle/>
          <a:p>
            <a:pPr marL="0" indent="0" algn="l">
              <a:lnSpc>
                <a:spcPct val="94000"/>
              </a:lnSpc>
              <a:buNone/>
            </a:pPr>
            <a:r>
              <a:rPr lang="en-US" sz="550" dirty="0">
                <a:solidFill>
                  <a:srgbClr val="384653"/>
                </a:solidFill>
                <a:latin typeface="Roboto" panose="02000000000000000000" pitchFamily="34" charset="0"/>
                <a:ea typeface="Roboto" panose="02000000000000000000" pitchFamily="34" charset="-122"/>
                <a:cs typeface="Roboto" panose="02000000000000000000" pitchFamily="34" charset="-120"/>
              </a:rPr>
              <a:t>If the dataset and labels support them:</a:t>
            </a:r>
            <a:endParaRPr lang="en-US" sz="550" dirty="0"/>
          </a:p>
        </p:txBody>
      </p:sp>
      <p:sp>
        <p:nvSpPr>
          <p:cNvPr id="11" name="Text 9"/>
          <p:cNvSpPr/>
          <p:nvPr/>
        </p:nvSpPr>
        <p:spPr>
          <a:xfrm>
            <a:off x="4663232" y="1699096"/>
            <a:ext cx="3989412" cy="171896"/>
          </a:xfrm>
          <a:prstGeom prst="rect">
            <a:avLst/>
          </a:prstGeom>
          <a:noFill/>
        </p:spPr>
        <p:txBody>
          <a:bodyPr wrap="square" lIns="0" tIns="28353" rIns="0" bIns="0" rtlCol="0" anchor="t">
            <a:normAutofit/>
          </a:bodyPr>
          <a:lstStyle/>
          <a:p>
            <a:pPr marL="111760" indent="-111760" algn="l">
              <a:lnSpc>
                <a:spcPct val="94000"/>
              </a:lnSpc>
              <a:buSzPct val="100000"/>
              <a:buChar char="•"/>
            </a:pPr>
            <a:r>
              <a:rPr lang="en-US" sz="550" dirty="0">
                <a:solidFill>
                  <a:srgbClr val="384653"/>
                </a:solidFill>
                <a:latin typeface="Roboto" panose="02000000000000000000" pitchFamily="34" charset="0"/>
                <a:ea typeface="Roboto" panose="02000000000000000000" pitchFamily="34" charset="-122"/>
                <a:cs typeface="Roboto" panose="02000000000000000000" pitchFamily="34" charset="-120"/>
              </a:rPr>
              <a:t>1D CNN</a:t>
            </a:r>
            <a:endParaRPr lang="en-US" sz="550" dirty="0"/>
          </a:p>
          <a:p>
            <a:pPr marL="111760" indent="-111760" algn="l">
              <a:lnSpc>
                <a:spcPct val="94000"/>
              </a:lnSpc>
              <a:buSzPct val="100000"/>
              <a:buChar char="•"/>
            </a:pPr>
            <a:r>
              <a:rPr lang="en-US" sz="550" dirty="0">
                <a:solidFill>
                  <a:srgbClr val="384653"/>
                </a:solidFill>
                <a:latin typeface="Roboto" panose="02000000000000000000" pitchFamily="34" charset="0"/>
                <a:ea typeface="Roboto" panose="02000000000000000000" pitchFamily="34" charset="-122"/>
                <a:cs typeface="Roboto" panose="02000000000000000000" pitchFamily="34" charset="-120"/>
              </a:rPr>
              <a:t>LSTM / GRU</a:t>
            </a:r>
            <a:endParaRPr lang="en-US" sz="550" dirty="0"/>
          </a:p>
        </p:txBody>
      </p:sp>
      <p:sp>
        <p:nvSpPr>
          <p:cNvPr id="12" name="Shape 10"/>
          <p:cNvSpPr/>
          <p:nvPr/>
        </p:nvSpPr>
        <p:spPr>
          <a:xfrm>
            <a:off x="496119" y="1923157"/>
            <a:ext cx="8151763" cy="182463"/>
          </a:xfrm>
          <a:prstGeom prst="roundRect">
            <a:avLst>
              <a:gd name="adj" fmla="val 16316"/>
            </a:avLst>
          </a:prstGeom>
          <a:solidFill>
            <a:srgbClr val="D9EDF2"/>
          </a:solidFill>
        </p:spPr>
      </p:sp>
      <p:pic>
        <p:nvPicPr>
          <p:cNvPr id="13" name="Image 0" descr="preencoded.png"/>
          <p:cNvPicPr>
            <a:picLocks noChangeAspect="1"/>
          </p:cNvPicPr>
          <p:nvPr/>
        </p:nvPicPr>
        <p:blipFill>
          <a:blip r:embed="rId1"/>
          <a:stretch>
            <a:fillRect/>
          </a:stretch>
        </p:blipFill>
        <p:spPr>
          <a:xfrm>
            <a:off x="566961" y="1976289"/>
            <a:ext cx="88553" cy="70842"/>
          </a:xfrm>
          <a:prstGeom prst="rect">
            <a:avLst/>
          </a:prstGeom>
        </p:spPr>
      </p:pic>
      <p:sp>
        <p:nvSpPr>
          <p:cNvPr id="14" name="Text 11"/>
          <p:cNvSpPr/>
          <p:nvPr/>
        </p:nvSpPr>
        <p:spPr>
          <a:xfrm>
            <a:off x="726356" y="1976289"/>
            <a:ext cx="8307884" cy="79772"/>
          </a:xfrm>
          <a:prstGeom prst="rect">
            <a:avLst/>
          </a:prstGeom>
          <a:noFill/>
        </p:spPr>
        <p:txBody>
          <a:bodyPr wrap="none" lIns="0" tIns="0" rIns="0" bIns="0" rtlCol="0" anchor="t"/>
          <a:lstStyle/>
          <a:p>
            <a:pPr marL="0" indent="0" algn="l">
              <a:lnSpc>
                <a:spcPct val="94000"/>
              </a:lnSpc>
              <a:buNone/>
            </a:pPr>
            <a:r>
              <a:rPr lang="en-US" sz="550" b="1" dirty="0">
                <a:solidFill>
                  <a:srgbClr val="000000"/>
                </a:solidFill>
                <a:latin typeface="Roboto Bold" panose="02000000000000000000" pitchFamily="34" charset="0"/>
                <a:ea typeface="Roboto Bold" panose="02000000000000000000" pitchFamily="34" charset="-122"/>
                <a:cs typeface="Roboto Bold" panose="02000000000000000000" pitchFamily="34" charset="-120"/>
              </a:rPr>
              <a:t>Important note:</a:t>
            </a:r>
            <a:r>
              <a:rPr lang="en-US" sz="550" dirty="0">
                <a:solidFill>
                  <a:srgbClr val="000000"/>
                </a:solidFill>
                <a:latin typeface="Roboto" panose="02000000000000000000" pitchFamily="34" charset="0"/>
                <a:ea typeface="Roboto" panose="02000000000000000000" pitchFamily="34" charset="-122"/>
                <a:cs typeface="Roboto" panose="02000000000000000000" pitchFamily="34" charset="-120"/>
              </a:rPr>
              <a:t> These are candidate methods, not final selections. Final selection should depend on: Data characteristics + validation performance + robustness + computational cost</a:t>
            </a:r>
            <a:endParaRPr lang="en-US" sz="550" dirty="0"/>
          </a:p>
        </p:txBody>
      </p:sp>
      <p:pic>
        <p:nvPicPr>
          <p:cNvPr id="15" name="Image 1" descr="preencoded.png"/>
          <p:cNvPicPr>
            <a:picLocks noChangeAspect="1"/>
          </p:cNvPicPr>
          <p:nvPr/>
        </p:nvPicPr>
        <p:blipFill>
          <a:blip r:embed="rId2"/>
          <a:stretch>
            <a:fillRect/>
          </a:stretch>
        </p:blipFill>
        <p:spPr>
          <a:xfrm>
            <a:off x="626641" y="2145432"/>
            <a:ext cx="7890644" cy="2960936"/>
          </a:xfrm>
          <a:prstGeom prst="rect">
            <a:avLst/>
          </a:prstGeom>
        </p:spPr>
      </p:pic>
      <p:sp>
        <p:nvSpPr>
          <p:cNvPr id="16" name="Text 12"/>
          <p:cNvSpPr/>
          <p:nvPr/>
        </p:nvSpPr>
        <p:spPr>
          <a:xfrm>
            <a:off x="7002209" y="4272940"/>
            <a:ext cx="1190147" cy="458532"/>
          </a:xfrm>
          <a:prstGeom prst="rect">
            <a:avLst/>
          </a:prstGeom>
          <a:noFill/>
        </p:spPr>
        <p:txBody>
          <a:bodyPr wrap="square" lIns="0" tIns="0" rIns="0" bIns="0" rtlCol="0" anchor="t">
            <a:normAutofit/>
          </a:bodyPr>
          <a:lstStyle/>
          <a:p>
            <a:pPr marL="0" indent="0" algn="ctr">
              <a:lnSpc>
                <a:spcPct val="104000"/>
              </a:lnSpc>
              <a:buNone/>
            </a:pPr>
            <a:r>
              <a:rPr lang="en-US" sz="140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Best Approach</a:t>
            </a:r>
            <a:endParaRPr lang="en-US" sz="1400" dirty="0"/>
          </a:p>
        </p:txBody>
      </p:sp>
      <p:sp>
        <p:nvSpPr>
          <p:cNvPr id="17" name="Text 13"/>
          <p:cNvSpPr/>
          <p:nvPr/>
        </p:nvSpPr>
        <p:spPr>
          <a:xfrm>
            <a:off x="5502299" y="4387573"/>
            <a:ext cx="1190146" cy="229266"/>
          </a:xfrm>
          <a:prstGeom prst="rect">
            <a:avLst/>
          </a:prstGeom>
          <a:noFill/>
        </p:spPr>
        <p:txBody>
          <a:bodyPr wrap="none" lIns="0" tIns="0" rIns="0" bIns="0" rtlCol="0" anchor="t"/>
          <a:lstStyle/>
          <a:p>
            <a:pPr marL="0" indent="0" algn="ctr">
              <a:lnSpc>
                <a:spcPct val="104000"/>
              </a:lnSpc>
              <a:buNone/>
            </a:pPr>
            <a:r>
              <a:rPr lang="en-US" sz="140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Comparison</a:t>
            </a:r>
            <a:endParaRPr lang="en-US" sz="1400" dirty="0"/>
          </a:p>
        </p:txBody>
      </p:sp>
      <p:sp>
        <p:nvSpPr>
          <p:cNvPr id="18" name="Text 14"/>
          <p:cNvSpPr/>
          <p:nvPr/>
        </p:nvSpPr>
        <p:spPr>
          <a:xfrm>
            <a:off x="4010540" y="4387573"/>
            <a:ext cx="1190146" cy="229266"/>
          </a:xfrm>
          <a:prstGeom prst="rect">
            <a:avLst/>
          </a:prstGeom>
          <a:noFill/>
        </p:spPr>
        <p:txBody>
          <a:bodyPr wrap="none" lIns="0" tIns="0" rIns="0" bIns="0" rtlCol="0" anchor="t"/>
          <a:lstStyle/>
          <a:p>
            <a:pPr marL="0" indent="0" algn="ctr">
              <a:lnSpc>
                <a:spcPct val="104000"/>
              </a:lnSpc>
              <a:buNone/>
            </a:pPr>
            <a:r>
              <a:rPr lang="en-US" sz="140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ML Models</a:t>
            </a:r>
            <a:endParaRPr lang="en-US" sz="1400" dirty="0"/>
          </a:p>
        </p:txBody>
      </p:sp>
      <p:sp>
        <p:nvSpPr>
          <p:cNvPr id="19" name="Text 15"/>
          <p:cNvSpPr/>
          <p:nvPr/>
        </p:nvSpPr>
        <p:spPr>
          <a:xfrm>
            <a:off x="2518781" y="4387573"/>
            <a:ext cx="1190146" cy="229266"/>
          </a:xfrm>
          <a:prstGeom prst="rect">
            <a:avLst/>
          </a:prstGeom>
          <a:noFill/>
        </p:spPr>
        <p:txBody>
          <a:bodyPr wrap="none" lIns="0" tIns="0" rIns="0" bIns="0" rtlCol="0" anchor="t"/>
          <a:lstStyle/>
          <a:p>
            <a:pPr marL="0" indent="0" algn="ctr">
              <a:lnSpc>
                <a:spcPct val="104000"/>
              </a:lnSpc>
              <a:buNone/>
            </a:pPr>
            <a:r>
              <a:rPr lang="en-US" sz="140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Feature Prep</a:t>
            </a:r>
            <a:endParaRPr lang="en-US" sz="1400" dirty="0"/>
          </a:p>
        </p:txBody>
      </p:sp>
      <p:sp>
        <p:nvSpPr>
          <p:cNvPr id="20" name="Text 16"/>
          <p:cNvSpPr/>
          <p:nvPr/>
        </p:nvSpPr>
        <p:spPr>
          <a:xfrm>
            <a:off x="994415" y="4387573"/>
            <a:ext cx="1190146" cy="229266"/>
          </a:xfrm>
          <a:prstGeom prst="rect">
            <a:avLst/>
          </a:prstGeom>
          <a:noFill/>
        </p:spPr>
        <p:txBody>
          <a:bodyPr wrap="none" lIns="0" tIns="0" rIns="0" bIns="0" rtlCol="0" anchor="t"/>
          <a:lstStyle/>
          <a:p>
            <a:pPr marL="0" indent="0" algn="ctr">
              <a:lnSpc>
                <a:spcPct val="104000"/>
              </a:lnSpc>
              <a:buNone/>
            </a:pPr>
            <a:r>
              <a:rPr lang="en-US" sz="1400" dirty="0">
                <a:solidFill>
                  <a:srgbClr val="384653"/>
                </a:solidFill>
                <a:latin typeface="Host Grotesk Medium" panose="020B0504030402000203" pitchFamily="34" charset="0"/>
                <a:ea typeface="Host Grotesk Medium" panose="020B0504030402000203" pitchFamily="34" charset="-122"/>
                <a:cs typeface="Host Grotesk Medium" panose="020B0504030402000203" pitchFamily="34" charset="-120"/>
              </a:rPr>
              <a:t>Baseline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392013"/>
            <a:ext cx="8151763" cy="318343"/>
          </a:xfrm>
          <a:prstGeom prst="rect">
            <a:avLst/>
          </a:prstGeom>
          <a:noFill/>
        </p:spPr>
        <p:txBody>
          <a:bodyPr wrap="none" lIns="0" tIns="0" rIns="0" bIns="0" rtlCol="0" anchor="t"/>
          <a:lstStyle/>
          <a:p>
            <a:pPr marL="0" indent="0" algn="l">
              <a:lnSpc>
                <a:spcPct val="104000"/>
              </a:lnSpc>
              <a:buNone/>
            </a:pPr>
            <a:r>
              <a:rPr lang="en-US" sz="2000" dirty="0">
                <a:solidFill>
                  <a:srgbClr val="2E3C4E"/>
                </a:solidFill>
                <a:latin typeface="Host Grotesk Medium" panose="020B0504030402000203" pitchFamily="34" charset="0"/>
                <a:ea typeface="Host Grotesk Medium" panose="020B0504030402000203" pitchFamily="34" charset="-122"/>
                <a:cs typeface="Host Grotesk Medium" panose="020B0504030402000203" pitchFamily="34" charset="-120"/>
              </a:rPr>
              <a:t>Expected Dataset Structure &amp; Data Challenges</a:t>
            </a:r>
            <a:endParaRPr lang="en-US" sz="2000" dirty="0"/>
          </a:p>
        </p:txBody>
      </p:sp>
      <p:sp>
        <p:nvSpPr>
          <p:cNvPr id="3" name="Text 1"/>
          <p:cNvSpPr/>
          <p:nvPr/>
        </p:nvSpPr>
        <p:spPr>
          <a:xfrm>
            <a:off x="496119" y="893415"/>
            <a:ext cx="3951610" cy="159246"/>
          </a:xfrm>
          <a:prstGeom prst="rect">
            <a:avLst/>
          </a:prstGeom>
          <a:noFill/>
        </p:spPr>
        <p:txBody>
          <a:bodyPr wrap="none" lIns="0" tIns="0" rIns="0" bIns="0" rtlCol="0" anchor="t"/>
          <a:lstStyle/>
          <a:p>
            <a:pPr marL="0" indent="0" algn="l">
              <a:lnSpc>
                <a:spcPct val="104000"/>
              </a:lnSpc>
              <a:buNone/>
            </a:pPr>
            <a:r>
              <a:rPr lang="en-US" sz="1000" dirty="0">
                <a:solidFill>
                  <a:srgbClr val="2E3C4E"/>
                </a:solidFill>
                <a:latin typeface="Host Grotesk Medium" panose="020B0504030402000203" pitchFamily="34" charset="0"/>
                <a:ea typeface="Host Grotesk Medium" panose="020B0504030402000203" pitchFamily="34" charset="-122"/>
                <a:cs typeface="Host Grotesk Medium" panose="020B0504030402000203" pitchFamily="34" charset="-120"/>
              </a:rPr>
              <a:t>Expected Dataset Structure</a:t>
            </a:r>
            <a:endParaRPr lang="en-US" sz="1000" dirty="0"/>
          </a:p>
        </p:txBody>
      </p:sp>
      <p:sp>
        <p:nvSpPr>
          <p:cNvPr id="4" name="Text 2"/>
          <p:cNvSpPr/>
          <p:nvPr/>
        </p:nvSpPr>
        <p:spPr>
          <a:xfrm>
            <a:off x="496119" y="1125885"/>
            <a:ext cx="3951610" cy="328389"/>
          </a:xfrm>
          <a:prstGeom prst="rect">
            <a:avLst/>
          </a:prstGeom>
          <a:noFill/>
        </p:spPr>
        <p:txBody>
          <a:bodyPr wrap="square" lIns="0" tIns="0" rIns="0" bIns="0" rtlCol="0" anchor="t"/>
          <a:lstStyle/>
          <a:p>
            <a:pPr marL="0" indent="0" algn="l">
              <a:lnSpc>
                <a:spcPct val="107000"/>
              </a:lnSpc>
              <a:spcAft>
                <a:spcPts val="500"/>
              </a:spcAft>
              <a:buNone/>
            </a:pPr>
            <a:r>
              <a:rPr lang="en-US" sz="800" dirty="0">
                <a:solidFill>
                  <a:srgbClr val="384653"/>
                </a:solidFill>
                <a:latin typeface="Roboto" panose="02000000000000000000" pitchFamily="34" charset="0"/>
                <a:ea typeface="Roboto" panose="02000000000000000000" pitchFamily="34" charset="-122"/>
                <a:cs typeface="Roboto" panose="02000000000000000000" pitchFamily="34" charset="-120"/>
              </a:rPr>
              <a:t>Clearly state that the exact schema will be confirmed after dataset inspection.</a:t>
            </a:r>
            <a:endParaRPr lang="en-US" sz="800" dirty="0"/>
          </a:p>
          <a:p>
            <a:pPr marL="0" indent="0" algn="l">
              <a:lnSpc>
                <a:spcPct val="107000"/>
              </a:lnSpc>
              <a:buNone/>
            </a:pPr>
            <a:r>
              <a:rPr lang="en-US" sz="800" b="1" dirty="0">
                <a:solidFill>
                  <a:srgbClr val="384653"/>
                </a:solidFill>
                <a:latin typeface="Roboto Bold" panose="02000000000000000000" pitchFamily="34" charset="0"/>
                <a:ea typeface="Roboto Bold" panose="02000000000000000000" pitchFamily="34" charset="-122"/>
                <a:cs typeface="Roboto Bold" panose="02000000000000000000" pitchFamily="34" charset="-120"/>
              </a:rPr>
              <a:t>Possible video-level information:</a:t>
            </a:r>
            <a:endParaRPr lang="en-US" sz="800" dirty="0"/>
          </a:p>
        </p:txBody>
      </p:sp>
      <p:sp>
        <p:nvSpPr>
          <p:cNvPr id="5" name="Text 3"/>
          <p:cNvSpPr/>
          <p:nvPr/>
        </p:nvSpPr>
        <p:spPr>
          <a:xfrm>
            <a:off x="496119" y="1520130"/>
            <a:ext cx="3951610" cy="915591"/>
          </a:xfrm>
          <a:prstGeom prst="rect">
            <a:avLst/>
          </a:prstGeom>
          <a:noFill/>
        </p:spPr>
        <p:txBody>
          <a:bodyPr wrap="square" lIns="0" tIns="40758" rIns="0" bIns="0" rtlCol="0" anchor="t">
            <a:normAutofit/>
          </a:bodyPr>
          <a:lstStyle/>
          <a:p>
            <a:pPr marL="162560" indent="-162560" algn="l">
              <a:lnSpc>
                <a:spcPct val="107000"/>
              </a:lnSpc>
              <a:buSzPct val="100000"/>
              <a:buChar char="•"/>
            </a:pPr>
            <a:r>
              <a:rPr lang="en-US" sz="800" dirty="0">
                <a:solidFill>
                  <a:srgbClr val="384653"/>
                </a:solidFill>
                <a:latin typeface="Roboto" panose="02000000000000000000" pitchFamily="34" charset="0"/>
                <a:ea typeface="Roboto" panose="02000000000000000000" pitchFamily="34" charset="-122"/>
                <a:cs typeface="Roboto" panose="02000000000000000000" pitchFamily="34" charset="-120"/>
              </a:rPr>
              <a:t>video_id</a:t>
            </a:r>
            <a:endParaRPr lang="en-US" sz="800" dirty="0"/>
          </a:p>
          <a:p>
            <a:pPr marL="162560" indent="-162560" algn="l">
              <a:lnSpc>
                <a:spcPct val="107000"/>
              </a:lnSpc>
              <a:buSzPct val="100000"/>
              <a:buChar char="•"/>
            </a:pPr>
            <a:r>
              <a:rPr lang="en-US" sz="800" dirty="0">
                <a:solidFill>
                  <a:srgbClr val="384653"/>
                </a:solidFill>
                <a:latin typeface="Roboto" panose="02000000000000000000" pitchFamily="34" charset="0"/>
                <a:ea typeface="Roboto" panose="02000000000000000000" pitchFamily="34" charset="-122"/>
                <a:cs typeface="Roboto" panose="02000000000000000000" pitchFamily="34" charset="-120"/>
              </a:rPr>
              <a:t>filename</a:t>
            </a:r>
            <a:endParaRPr lang="en-US" sz="800" dirty="0"/>
          </a:p>
          <a:p>
            <a:pPr marL="162560" indent="-162560" algn="l">
              <a:lnSpc>
                <a:spcPct val="107000"/>
              </a:lnSpc>
              <a:buSzPct val="100000"/>
              <a:buChar char="•"/>
            </a:pPr>
            <a:r>
              <a:rPr lang="en-US" sz="800" dirty="0">
                <a:solidFill>
                  <a:srgbClr val="384653"/>
                </a:solidFill>
                <a:latin typeface="Roboto" panose="02000000000000000000" pitchFamily="34" charset="0"/>
                <a:ea typeface="Roboto" panose="02000000000000000000" pitchFamily="34" charset="-122"/>
                <a:cs typeface="Roboto" panose="02000000000000000000" pitchFamily="34" charset="-120"/>
              </a:rPr>
              <a:t>frame rate</a:t>
            </a:r>
            <a:endParaRPr lang="en-US" sz="800" dirty="0"/>
          </a:p>
          <a:p>
            <a:pPr marL="162560" indent="-162560" algn="l">
              <a:lnSpc>
                <a:spcPct val="107000"/>
              </a:lnSpc>
              <a:buSzPct val="100000"/>
              <a:buChar char="•"/>
            </a:pPr>
            <a:r>
              <a:rPr lang="en-US" sz="800" dirty="0">
                <a:solidFill>
                  <a:srgbClr val="384653"/>
                </a:solidFill>
                <a:latin typeface="Roboto" panose="02000000000000000000" pitchFamily="34" charset="0"/>
                <a:ea typeface="Roboto" panose="02000000000000000000" pitchFamily="34" charset="-122"/>
                <a:cs typeface="Roboto" panose="02000000000000000000" pitchFamily="34" charset="-120"/>
              </a:rPr>
              <a:t>duration</a:t>
            </a:r>
            <a:endParaRPr lang="en-US" sz="800" dirty="0"/>
          </a:p>
          <a:p>
            <a:pPr marL="162560" indent="-162560" algn="l">
              <a:lnSpc>
                <a:spcPct val="107000"/>
              </a:lnSpc>
              <a:buSzPct val="100000"/>
              <a:buChar char="•"/>
            </a:pPr>
            <a:r>
              <a:rPr lang="en-US" sz="800" dirty="0">
                <a:solidFill>
                  <a:srgbClr val="384653"/>
                </a:solidFill>
                <a:latin typeface="Roboto" panose="02000000000000000000" pitchFamily="34" charset="0"/>
                <a:ea typeface="Roboto" panose="02000000000000000000" pitchFamily="34" charset="-122"/>
                <a:cs typeface="Roboto" panose="02000000000000000000" pitchFamily="34" charset="-120"/>
              </a:rPr>
              <a:t>resolution</a:t>
            </a:r>
            <a:endParaRPr lang="en-US" sz="800" dirty="0"/>
          </a:p>
          <a:p>
            <a:pPr marL="162560" indent="-162560" algn="l">
              <a:lnSpc>
                <a:spcPct val="107000"/>
              </a:lnSpc>
              <a:buSzPct val="100000"/>
              <a:buChar char="•"/>
            </a:pPr>
            <a:r>
              <a:rPr lang="en-US" sz="800" dirty="0">
                <a:solidFill>
                  <a:srgbClr val="384653"/>
                </a:solidFill>
                <a:latin typeface="Roboto" panose="02000000000000000000" pitchFamily="34" charset="0"/>
                <a:ea typeface="Roboto" panose="02000000000000000000" pitchFamily="34" charset="-122"/>
                <a:cs typeface="Roboto" panose="02000000000000000000" pitchFamily="34" charset="-120"/>
              </a:rPr>
              <a:t>session/transmission ID</a:t>
            </a:r>
            <a:endParaRPr lang="en-US" sz="800" dirty="0"/>
          </a:p>
        </p:txBody>
      </p:sp>
      <p:sp>
        <p:nvSpPr>
          <p:cNvPr id="6" name="Text 4"/>
          <p:cNvSpPr/>
          <p:nvPr/>
        </p:nvSpPr>
        <p:spPr>
          <a:xfrm>
            <a:off x="496119" y="2501578"/>
            <a:ext cx="4408810" cy="131266"/>
          </a:xfrm>
          <a:prstGeom prst="rect">
            <a:avLst/>
          </a:prstGeom>
          <a:noFill/>
        </p:spPr>
        <p:txBody>
          <a:bodyPr wrap="none" lIns="0" tIns="0" rIns="0" bIns="0" rtlCol="0" anchor="t"/>
          <a:lstStyle/>
          <a:p>
            <a:pPr marL="0" indent="0" algn="l">
              <a:lnSpc>
                <a:spcPct val="107000"/>
              </a:lnSpc>
              <a:buNone/>
            </a:pPr>
            <a:r>
              <a:rPr lang="en-US" sz="800" b="1" dirty="0">
                <a:solidFill>
                  <a:srgbClr val="384653"/>
                </a:solidFill>
                <a:latin typeface="Roboto Bold" panose="02000000000000000000" pitchFamily="34" charset="0"/>
                <a:ea typeface="Roboto Bold" panose="02000000000000000000" pitchFamily="34" charset="-122"/>
                <a:cs typeface="Roboto Bold" panose="02000000000000000000" pitchFamily="34" charset="-120"/>
              </a:rPr>
              <a:t>Possible frame/signal-level information:</a:t>
            </a:r>
            <a:endParaRPr lang="en-US" sz="800" dirty="0"/>
          </a:p>
        </p:txBody>
      </p:sp>
      <p:sp>
        <p:nvSpPr>
          <p:cNvPr id="7" name="Text 5"/>
          <p:cNvSpPr/>
          <p:nvPr/>
        </p:nvSpPr>
        <p:spPr>
          <a:xfrm>
            <a:off x="496119" y="2698700"/>
            <a:ext cx="3951610" cy="915591"/>
          </a:xfrm>
          <a:prstGeom prst="rect">
            <a:avLst/>
          </a:prstGeom>
          <a:noFill/>
        </p:spPr>
        <p:txBody>
          <a:bodyPr wrap="square" lIns="0" tIns="40758" rIns="0" bIns="0" rtlCol="0" anchor="t">
            <a:normAutofit/>
          </a:bodyPr>
          <a:lstStyle/>
          <a:p>
            <a:pPr marL="162560" indent="-162560" algn="l">
              <a:lnSpc>
                <a:spcPct val="107000"/>
              </a:lnSpc>
              <a:buSzPct val="100000"/>
              <a:buChar char="•"/>
            </a:pPr>
            <a:r>
              <a:rPr lang="en-US" sz="800" dirty="0">
                <a:solidFill>
                  <a:srgbClr val="384653"/>
                </a:solidFill>
                <a:latin typeface="Roboto" panose="02000000000000000000" pitchFamily="34" charset="0"/>
                <a:ea typeface="Roboto" panose="02000000000000000000" pitchFamily="34" charset="-122"/>
                <a:cs typeface="Roboto" panose="02000000000000000000" pitchFamily="34" charset="-120"/>
              </a:rPr>
              <a:t>video_id</a:t>
            </a:r>
            <a:endParaRPr lang="en-US" sz="800" dirty="0"/>
          </a:p>
          <a:p>
            <a:pPr marL="162560" indent="-162560" algn="l">
              <a:lnSpc>
                <a:spcPct val="107000"/>
              </a:lnSpc>
              <a:buSzPct val="100000"/>
              <a:buChar char="•"/>
            </a:pPr>
            <a:r>
              <a:rPr lang="en-US" sz="800" dirty="0">
                <a:solidFill>
                  <a:srgbClr val="384653"/>
                </a:solidFill>
                <a:latin typeface="Roboto" panose="02000000000000000000" pitchFamily="34" charset="0"/>
                <a:ea typeface="Roboto" panose="02000000000000000000" pitchFamily="34" charset="-122"/>
                <a:cs typeface="Roboto" panose="02000000000000000000" pitchFamily="34" charset="-120"/>
              </a:rPr>
              <a:t>frame_index</a:t>
            </a:r>
            <a:endParaRPr lang="en-US" sz="800" dirty="0"/>
          </a:p>
          <a:p>
            <a:pPr marL="162560" indent="-162560" algn="l">
              <a:lnSpc>
                <a:spcPct val="107000"/>
              </a:lnSpc>
              <a:buSzPct val="100000"/>
              <a:buChar char="•"/>
            </a:pPr>
            <a:r>
              <a:rPr lang="en-US" sz="800" dirty="0">
                <a:solidFill>
                  <a:srgbClr val="384653"/>
                </a:solidFill>
                <a:latin typeface="Roboto" panose="02000000000000000000" pitchFamily="34" charset="0"/>
                <a:ea typeface="Roboto" panose="02000000000000000000" pitchFamily="34" charset="-122"/>
                <a:cs typeface="Roboto" panose="02000000000000000000" pitchFamily="34" charset="-120"/>
              </a:rPr>
              <a:t>timestamp</a:t>
            </a:r>
            <a:endParaRPr lang="en-US" sz="800" dirty="0"/>
          </a:p>
          <a:p>
            <a:pPr marL="162560" indent="-162560" algn="l">
              <a:lnSpc>
                <a:spcPct val="107000"/>
              </a:lnSpc>
              <a:buSzPct val="100000"/>
              <a:buChar char="•"/>
            </a:pPr>
            <a:r>
              <a:rPr lang="en-US" sz="800" dirty="0">
                <a:solidFill>
                  <a:srgbClr val="384653"/>
                </a:solidFill>
                <a:latin typeface="Roboto" panose="02000000000000000000" pitchFamily="34" charset="0"/>
                <a:ea typeface="Roboto" panose="02000000000000000000" pitchFamily="34" charset="-122"/>
                <a:cs typeface="Roboto" panose="02000000000000000000" pitchFamily="34" charset="-120"/>
              </a:rPr>
              <a:t>ROI coordinates</a:t>
            </a:r>
            <a:endParaRPr lang="en-US" sz="800" dirty="0"/>
          </a:p>
          <a:p>
            <a:pPr marL="162560" indent="-162560" algn="l">
              <a:lnSpc>
                <a:spcPct val="107000"/>
              </a:lnSpc>
              <a:buSzPct val="100000"/>
              <a:buChar char="•"/>
            </a:pPr>
            <a:r>
              <a:rPr lang="en-US" sz="800" dirty="0">
                <a:solidFill>
                  <a:srgbClr val="384653"/>
                </a:solidFill>
                <a:latin typeface="Roboto" panose="02000000000000000000" pitchFamily="34" charset="0"/>
                <a:ea typeface="Roboto" panose="02000000000000000000" pitchFamily="34" charset="-122"/>
                <a:cs typeface="Roboto" panose="02000000000000000000" pitchFamily="34" charset="-120"/>
              </a:rPr>
              <a:t>mean/median intensity</a:t>
            </a:r>
            <a:endParaRPr lang="en-US" sz="800" dirty="0"/>
          </a:p>
          <a:p>
            <a:pPr marL="162560" indent="-162560" algn="l">
              <a:lnSpc>
                <a:spcPct val="107000"/>
              </a:lnSpc>
              <a:buSzPct val="100000"/>
              <a:buChar char="•"/>
            </a:pPr>
            <a:r>
              <a:rPr lang="en-US" sz="800" dirty="0">
                <a:solidFill>
                  <a:srgbClr val="384653"/>
                </a:solidFill>
                <a:latin typeface="Roboto" panose="02000000000000000000" pitchFamily="34" charset="0"/>
                <a:ea typeface="Roboto" panose="02000000000000000000" pitchFamily="34" charset="-122"/>
                <a:cs typeface="Roboto" panose="02000000000000000000" pitchFamily="34" charset="-120"/>
              </a:rPr>
              <a:t>normalized intensity</a:t>
            </a:r>
            <a:endParaRPr lang="en-US" sz="800" dirty="0"/>
          </a:p>
        </p:txBody>
      </p:sp>
      <p:sp>
        <p:nvSpPr>
          <p:cNvPr id="8" name="Text 6"/>
          <p:cNvSpPr/>
          <p:nvPr/>
        </p:nvSpPr>
        <p:spPr>
          <a:xfrm>
            <a:off x="496119" y="3680147"/>
            <a:ext cx="4408810" cy="131266"/>
          </a:xfrm>
          <a:prstGeom prst="rect">
            <a:avLst/>
          </a:prstGeom>
          <a:noFill/>
        </p:spPr>
        <p:txBody>
          <a:bodyPr wrap="none" lIns="0" tIns="0" rIns="0" bIns="0" rtlCol="0" anchor="t"/>
          <a:lstStyle/>
          <a:p>
            <a:pPr marL="0" indent="0" algn="l">
              <a:lnSpc>
                <a:spcPct val="107000"/>
              </a:lnSpc>
              <a:buNone/>
            </a:pPr>
            <a:r>
              <a:rPr lang="en-US" sz="800" b="1" dirty="0">
                <a:solidFill>
                  <a:srgbClr val="384653"/>
                </a:solidFill>
                <a:latin typeface="Roboto Bold" panose="02000000000000000000" pitchFamily="34" charset="0"/>
                <a:ea typeface="Roboto Bold" panose="02000000000000000000" pitchFamily="34" charset="-122"/>
                <a:cs typeface="Roboto Bold" panose="02000000000000000000" pitchFamily="34" charset="-120"/>
              </a:rPr>
              <a:t>Possible target information:</a:t>
            </a:r>
            <a:endParaRPr lang="en-US" sz="800" dirty="0"/>
          </a:p>
        </p:txBody>
      </p:sp>
      <p:sp>
        <p:nvSpPr>
          <p:cNvPr id="9" name="Text 7"/>
          <p:cNvSpPr/>
          <p:nvPr/>
        </p:nvSpPr>
        <p:spPr>
          <a:xfrm>
            <a:off x="496119" y="3877270"/>
            <a:ext cx="3951610" cy="444996"/>
          </a:xfrm>
          <a:prstGeom prst="rect">
            <a:avLst/>
          </a:prstGeom>
          <a:noFill/>
        </p:spPr>
        <p:txBody>
          <a:bodyPr wrap="square" lIns="0" tIns="40758" rIns="0" bIns="0" rtlCol="0" anchor="t">
            <a:normAutofit/>
          </a:bodyPr>
          <a:lstStyle/>
          <a:p>
            <a:pPr marL="162560" indent="-162560" algn="l">
              <a:lnSpc>
                <a:spcPct val="107000"/>
              </a:lnSpc>
              <a:buSzPct val="100000"/>
              <a:buChar char="•"/>
            </a:pPr>
            <a:r>
              <a:rPr lang="en-US" sz="800" dirty="0">
                <a:solidFill>
                  <a:srgbClr val="384653"/>
                </a:solidFill>
                <a:latin typeface="Roboto" panose="02000000000000000000" pitchFamily="34" charset="0"/>
                <a:ea typeface="Roboto" panose="02000000000000000000" pitchFamily="34" charset="-122"/>
                <a:cs typeface="Roboto" panose="02000000000000000000" pitchFamily="34" charset="-120"/>
              </a:rPr>
              <a:t>transmitted bit/symbol</a:t>
            </a:r>
            <a:endParaRPr lang="en-US" sz="800" dirty="0"/>
          </a:p>
          <a:p>
            <a:pPr marL="162560" indent="-162560" algn="l">
              <a:lnSpc>
                <a:spcPct val="107000"/>
              </a:lnSpc>
              <a:buSzPct val="100000"/>
              <a:buChar char="•"/>
            </a:pPr>
            <a:r>
              <a:rPr lang="en-US" sz="800" dirty="0">
                <a:solidFill>
                  <a:srgbClr val="384653"/>
                </a:solidFill>
                <a:latin typeface="Roboto" panose="02000000000000000000" pitchFamily="34" charset="0"/>
                <a:ea typeface="Roboto" panose="02000000000000000000" pitchFamily="34" charset="-122"/>
                <a:cs typeface="Roboto" panose="02000000000000000000" pitchFamily="34" charset="-120"/>
              </a:rPr>
              <a:t>binary sequence</a:t>
            </a:r>
            <a:endParaRPr lang="en-US" sz="800" dirty="0"/>
          </a:p>
          <a:p>
            <a:pPr marL="162560" indent="-162560" algn="l">
              <a:lnSpc>
                <a:spcPct val="107000"/>
              </a:lnSpc>
              <a:buSzPct val="100000"/>
              <a:buChar char="•"/>
            </a:pPr>
            <a:r>
              <a:rPr lang="en-US" sz="800" dirty="0">
                <a:solidFill>
                  <a:srgbClr val="384653"/>
                </a:solidFill>
                <a:latin typeface="Roboto" panose="02000000000000000000" pitchFamily="34" charset="0"/>
                <a:ea typeface="Roboto" panose="02000000000000000000" pitchFamily="34" charset="-122"/>
                <a:cs typeface="Roboto" panose="02000000000000000000" pitchFamily="34" charset="-120"/>
              </a:rPr>
              <a:t>decoded message</a:t>
            </a:r>
            <a:endParaRPr lang="en-US" sz="800" dirty="0"/>
          </a:p>
        </p:txBody>
      </p:sp>
      <p:sp>
        <p:nvSpPr>
          <p:cNvPr id="10" name="Shape 8"/>
          <p:cNvSpPr/>
          <p:nvPr/>
        </p:nvSpPr>
        <p:spPr>
          <a:xfrm>
            <a:off x="4627662" y="820192"/>
            <a:ext cx="4098354" cy="3527673"/>
          </a:xfrm>
          <a:prstGeom prst="roundRect">
            <a:avLst>
              <a:gd name="adj" fmla="val 2080"/>
            </a:avLst>
          </a:prstGeom>
          <a:solidFill>
            <a:srgbClr val="95CCDA"/>
          </a:solidFill>
        </p:spPr>
      </p:sp>
      <p:sp>
        <p:nvSpPr>
          <p:cNvPr id="11" name="Text 9"/>
          <p:cNvSpPr/>
          <p:nvPr/>
        </p:nvSpPr>
        <p:spPr>
          <a:xfrm>
            <a:off x="4729535" y="893415"/>
            <a:ext cx="3894609" cy="159246"/>
          </a:xfrm>
          <a:prstGeom prst="rect">
            <a:avLst/>
          </a:prstGeom>
          <a:noFill/>
        </p:spPr>
        <p:txBody>
          <a:bodyPr wrap="none" lIns="0" tIns="0" rIns="0" bIns="0" rtlCol="0" anchor="t"/>
          <a:lstStyle/>
          <a:p>
            <a:pPr marL="0" indent="0" algn="l">
              <a:lnSpc>
                <a:spcPct val="104000"/>
              </a:lnSpc>
              <a:buNone/>
            </a:pPr>
            <a:r>
              <a:rPr lang="en-US" sz="1000" dirty="0">
                <a:solidFill>
                  <a:srgbClr val="2E3C4E"/>
                </a:solidFill>
                <a:latin typeface="Host Grotesk Medium" panose="020B0504030402000203" pitchFamily="34" charset="0"/>
                <a:ea typeface="Host Grotesk Medium" panose="020B0504030402000203" pitchFamily="34" charset="-122"/>
                <a:cs typeface="Host Grotesk Medium" panose="020B0504030402000203" pitchFamily="34" charset="-120"/>
              </a:rPr>
              <a:t>Possible Data Challenges</a:t>
            </a:r>
            <a:endParaRPr lang="en-US" sz="1000" dirty="0"/>
          </a:p>
        </p:txBody>
      </p:sp>
      <p:sp>
        <p:nvSpPr>
          <p:cNvPr id="12" name="Text 10"/>
          <p:cNvSpPr/>
          <p:nvPr/>
        </p:nvSpPr>
        <p:spPr>
          <a:xfrm>
            <a:off x="4729535" y="1125885"/>
            <a:ext cx="3894609" cy="2013645"/>
          </a:xfrm>
          <a:prstGeom prst="rect">
            <a:avLst/>
          </a:prstGeom>
          <a:noFill/>
        </p:spPr>
        <p:txBody>
          <a:bodyPr wrap="square" lIns="0" tIns="40758" rIns="0" bIns="0" rtlCol="0" anchor="t">
            <a:normAutofit/>
          </a:bodyPr>
          <a:lstStyle/>
          <a:p>
            <a:pPr marL="162560" indent="-162560" algn="l">
              <a:lnSpc>
                <a:spcPct val="107000"/>
              </a:lnSpc>
              <a:buSzPct val="100000"/>
              <a:buChar char="•"/>
            </a:pPr>
            <a:r>
              <a:rPr lang="en-US" sz="800" dirty="0">
                <a:solidFill>
                  <a:srgbClr val="000000"/>
                </a:solidFill>
                <a:latin typeface="Roboto" panose="02000000000000000000" pitchFamily="34" charset="0"/>
                <a:ea typeface="Roboto" panose="02000000000000000000" pitchFamily="34" charset="-122"/>
                <a:cs typeface="Roboto" panose="02000000000000000000" pitchFamily="34" charset="-120"/>
              </a:rPr>
              <a:t>Missing or corrupted frames</a:t>
            </a:r>
            <a:endParaRPr lang="en-US" sz="800" dirty="0"/>
          </a:p>
          <a:p>
            <a:pPr marL="162560" indent="-162560" algn="l">
              <a:lnSpc>
                <a:spcPct val="107000"/>
              </a:lnSpc>
              <a:buSzPct val="100000"/>
              <a:buChar char="•"/>
            </a:pPr>
            <a:r>
              <a:rPr lang="en-US" sz="800" dirty="0">
                <a:solidFill>
                  <a:srgbClr val="000000"/>
                </a:solidFill>
                <a:latin typeface="Roboto" panose="02000000000000000000" pitchFamily="34" charset="0"/>
                <a:ea typeface="Roboto" panose="02000000000000000000" pitchFamily="34" charset="-122"/>
                <a:cs typeface="Roboto" panose="02000000000000000000" pitchFamily="34" charset="-120"/>
              </a:rPr>
              <a:t>Variable video quality</a:t>
            </a:r>
            <a:endParaRPr lang="en-US" sz="800" dirty="0"/>
          </a:p>
          <a:p>
            <a:pPr marL="162560" indent="-162560" algn="l">
              <a:lnSpc>
                <a:spcPct val="107000"/>
              </a:lnSpc>
              <a:buSzPct val="100000"/>
              <a:buChar char="•"/>
            </a:pPr>
            <a:r>
              <a:rPr lang="en-US" sz="800" dirty="0">
                <a:solidFill>
                  <a:srgbClr val="000000"/>
                </a:solidFill>
                <a:latin typeface="Roboto" panose="02000000000000000000" pitchFamily="34" charset="0"/>
                <a:ea typeface="Roboto" panose="02000000000000000000" pitchFamily="34" charset="-122"/>
                <a:cs typeface="Roboto" panose="02000000000000000000" pitchFamily="34" charset="-120"/>
              </a:rPr>
              <a:t>Camera movement</a:t>
            </a:r>
            <a:endParaRPr lang="en-US" sz="800" dirty="0"/>
          </a:p>
          <a:p>
            <a:pPr marL="162560" indent="-162560" algn="l">
              <a:lnSpc>
                <a:spcPct val="107000"/>
              </a:lnSpc>
              <a:buSzPct val="100000"/>
              <a:buChar char="•"/>
            </a:pPr>
            <a:r>
              <a:rPr lang="en-US" sz="800" dirty="0">
                <a:solidFill>
                  <a:srgbClr val="000000"/>
                </a:solidFill>
                <a:latin typeface="Roboto" panose="02000000000000000000" pitchFamily="34" charset="0"/>
                <a:ea typeface="Roboto" panose="02000000000000000000" pitchFamily="34" charset="-122"/>
                <a:cs typeface="Roboto" panose="02000000000000000000" pitchFamily="34" charset="-120"/>
              </a:rPr>
              <a:t>Incorrect ROI detection</a:t>
            </a:r>
            <a:endParaRPr lang="en-US" sz="800" dirty="0"/>
          </a:p>
          <a:p>
            <a:pPr marL="162560" indent="-162560" algn="l">
              <a:lnSpc>
                <a:spcPct val="107000"/>
              </a:lnSpc>
              <a:buSzPct val="100000"/>
              <a:buChar char="•"/>
            </a:pPr>
            <a:r>
              <a:rPr lang="en-US" sz="800" dirty="0">
                <a:solidFill>
                  <a:srgbClr val="000000"/>
                </a:solidFill>
                <a:latin typeface="Roboto" panose="02000000000000000000" pitchFamily="34" charset="0"/>
                <a:ea typeface="Roboto" panose="02000000000000000000" pitchFamily="34" charset="-122"/>
                <a:cs typeface="Roboto" panose="02000000000000000000" pitchFamily="34" charset="-120"/>
              </a:rPr>
              <a:t>Ambient-light variation</a:t>
            </a:r>
            <a:endParaRPr lang="en-US" sz="800" dirty="0"/>
          </a:p>
          <a:p>
            <a:pPr marL="162560" indent="-162560" algn="l">
              <a:lnSpc>
                <a:spcPct val="107000"/>
              </a:lnSpc>
              <a:buSzPct val="100000"/>
              <a:buChar char="•"/>
            </a:pPr>
            <a:r>
              <a:rPr lang="en-US" sz="800" dirty="0">
                <a:solidFill>
                  <a:srgbClr val="000000"/>
                </a:solidFill>
                <a:latin typeface="Roboto" panose="02000000000000000000" pitchFamily="34" charset="0"/>
                <a:ea typeface="Roboto" panose="02000000000000000000" pitchFamily="34" charset="-122"/>
                <a:cs typeface="Roboto" panose="02000000000000000000" pitchFamily="34" charset="-120"/>
              </a:rPr>
              <a:t>Sensor noise</a:t>
            </a:r>
            <a:endParaRPr lang="en-US" sz="800" dirty="0"/>
          </a:p>
          <a:p>
            <a:pPr marL="162560" indent="-162560" algn="l">
              <a:lnSpc>
                <a:spcPct val="107000"/>
              </a:lnSpc>
              <a:buSzPct val="100000"/>
              <a:buChar char="•"/>
            </a:pPr>
            <a:r>
              <a:rPr lang="en-US" sz="800" dirty="0">
                <a:solidFill>
                  <a:srgbClr val="000000"/>
                </a:solidFill>
                <a:latin typeface="Roboto" panose="02000000000000000000" pitchFamily="34" charset="0"/>
                <a:ea typeface="Roboto" panose="02000000000000000000" pitchFamily="34" charset="-122"/>
                <a:cs typeface="Roboto" panose="02000000000000000000" pitchFamily="34" charset="-120"/>
              </a:rPr>
              <a:t>Timing/frame-rate irregularities</a:t>
            </a:r>
            <a:endParaRPr lang="en-US" sz="800" dirty="0"/>
          </a:p>
          <a:p>
            <a:pPr marL="162560" indent="-162560" algn="l">
              <a:lnSpc>
                <a:spcPct val="107000"/>
              </a:lnSpc>
              <a:buSzPct val="100000"/>
              <a:buChar char="•"/>
            </a:pPr>
            <a:r>
              <a:rPr lang="en-US" sz="800" dirty="0">
                <a:solidFill>
                  <a:srgbClr val="000000"/>
                </a:solidFill>
                <a:latin typeface="Roboto" panose="02000000000000000000" pitchFamily="34" charset="0"/>
                <a:ea typeface="Roboto" panose="02000000000000000000" pitchFamily="34" charset="-122"/>
                <a:cs typeface="Roboto" panose="02000000000000000000" pitchFamily="34" charset="-120"/>
              </a:rPr>
              <a:t>Weak ON/OFF separation</a:t>
            </a:r>
            <a:endParaRPr lang="en-US" sz="800" dirty="0"/>
          </a:p>
          <a:p>
            <a:pPr marL="162560" indent="-162560" algn="l">
              <a:lnSpc>
                <a:spcPct val="107000"/>
              </a:lnSpc>
              <a:buSzPct val="100000"/>
              <a:buChar char="•"/>
            </a:pPr>
            <a:r>
              <a:rPr lang="en-US" sz="800" dirty="0">
                <a:solidFill>
                  <a:srgbClr val="000000"/>
                </a:solidFill>
                <a:latin typeface="Roboto" panose="02000000000000000000" pitchFamily="34" charset="0"/>
                <a:ea typeface="Roboto" panose="02000000000000000000" pitchFamily="34" charset="-122"/>
                <a:cs typeface="Roboto" panose="02000000000000000000" pitchFamily="34" charset="-120"/>
              </a:rPr>
              <a:t>Synchronization errors</a:t>
            </a:r>
            <a:endParaRPr lang="en-US" sz="800" dirty="0"/>
          </a:p>
          <a:p>
            <a:pPr marL="162560" indent="-162560" algn="l">
              <a:lnSpc>
                <a:spcPct val="107000"/>
              </a:lnSpc>
              <a:buSzPct val="100000"/>
              <a:buChar char="•"/>
            </a:pPr>
            <a:r>
              <a:rPr lang="en-US" sz="800" dirty="0">
                <a:solidFill>
                  <a:srgbClr val="000000"/>
                </a:solidFill>
                <a:latin typeface="Roboto" panose="02000000000000000000" pitchFamily="34" charset="0"/>
                <a:ea typeface="Roboto" panose="02000000000000000000" pitchFamily="34" charset="-122"/>
                <a:cs typeface="Roboto" panose="02000000000000000000" pitchFamily="34" charset="-120"/>
              </a:rPr>
              <a:t>Class imbalance</a:t>
            </a:r>
            <a:endParaRPr lang="en-US" sz="800" dirty="0"/>
          </a:p>
          <a:p>
            <a:pPr marL="162560" indent="-162560" algn="l">
              <a:lnSpc>
                <a:spcPct val="107000"/>
              </a:lnSpc>
              <a:buSzPct val="100000"/>
              <a:buChar char="•"/>
            </a:pPr>
            <a:r>
              <a:rPr lang="en-US" sz="800" dirty="0">
                <a:solidFill>
                  <a:srgbClr val="000000"/>
                </a:solidFill>
                <a:latin typeface="Roboto" panose="02000000000000000000" pitchFamily="34" charset="0"/>
                <a:ea typeface="Roboto" panose="02000000000000000000" pitchFamily="34" charset="-122"/>
                <a:cs typeface="Roboto" panose="02000000000000000000" pitchFamily="34" charset="-120"/>
              </a:rPr>
              <a:t>Limited independent video sequences</a:t>
            </a:r>
            <a:endParaRPr lang="en-US" sz="800" dirty="0"/>
          </a:p>
          <a:p>
            <a:pPr marL="162560" indent="-162560" algn="l">
              <a:lnSpc>
                <a:spcPct val="107000"/>
              </a:lnSpc>
              <a:buSzPct val="100000"/>
              <a:buChar char="•"/>
            </a:pPr>
            <a:r>
              <a:rPr lang="en-US" sz="800" dirty="0">
                <a:solidFill>
                  <a:srgbClr val="000000"/>
                </a:solidFill>
                <a:latin typeface="Roboto" panose="02000000000000000000" pitchFamily="34" charset="0"/>
                <a:ea typeface="Roboto" panose="02000000000000000000" pitchFamily="34" charset="-122"/>
                <a:cs typeface="Roboto" panose="02000000000000000000" pitchFamily="34" charset="-120"/>
              </a:rPr>
              <a:t>Missing/incomplete labels</a:t>
            </a:r>
            <a:endParaRPr lang="en-US" sz="800" dirty="0"/>
          </a:p>
          <a:p>
            <a:pPr marL="162560" indent="-162560" algn="l">
              <a:lnSpc>
                <a:spcPct val="107000"/>
              </a:lnSpc>
              <a:buSzPct val="100000"/>
              <a:buChar char="•"/>
            </a:pPr>
            <a:r>
              <a:rPr lang="en-US" sz="800" dirty="0">
                <a:solidFill>
                  <a:srgbClr val="000000"/>
                </a:solidFill>
                <a:latin typeface="Roboto" panose="02000000000000000000" pitchFamily="34" charset="0"/>
                <a:ea typeface="Roboto" panose="02000000000000000000" pitchFamily="34" charset="-122"/>
                <a:cs typeface="Roboto" panose="02000000000000000000" pitchFamily="34" charset="-120"/>
              </a:rPr>
              <a:t>Data leakage</a:t>
            </a:r>
            <a:endParaRPr lang="en-US" sz="800" dirty="0"/>
          </a:p>
        </p:txBody>
      </p:sp>
      <p:sp>
        <p:nvSpPr>
          <p:cNvPr id="13" name="Shape 11"/>
          <p:cNvSpPr/>
          <p:nvPr/>
        </p:nvSpPr>
        <p:spPr>
          <a:xfrm>
            <a:off x="496119" y="4430241"/>
            <a:ext cx="8151763" cy="321246"/>
          </a:xfrm>
          <a:prstGeom prst="roundRect">
            <a:avLst>
              <a:gd name="adj" fmla="val 13322"/>
            </a:avLst>
          </a:prstGeom>
          <a:solidFill>
            <a:srgbClr val="FCF2B5"/>
          </a:solidFill>
        </p:spPr>
      </p:sp>
      <p:pic>
        <p:nvPicPr>
          <p:cNvPr id="14" name="Image 0" descr="preencoded.png"/>
          <p:cNvPicPr>
            <a:picLocks noChangeAspect="1"/>
          </p:cNvPicPr>
          <p:nvPr/>
        </p:nvPicPr>
        <p:blipFill>
          <a:blip r:embed="rId1"/>
          <a:stretch>
            <a:fillRect/>
          </a:stretch>
        </p:blipFill>
        <p:spPr>
          <a:xfrm>
            <a:off x="597991" y="4530254"/>
            <a:ext cx="127322" cy="101873"/>
          </a:xfrm>
          <a:prstGeom prst="rect">
            <a:avLst/>
          </a:prstGeom>
        </p:spPr>
      </p:pic>
      <p:sp>
        <p:nvSpPr>
          <p:cNvPr id="15" name="Text 12"/>
          <p:cNvSpPr/>
          <p:nvPr/>
        </p:nvSpPr>
        <p:spPr>
          <a:xfrm>
            <a:off x="827187" y="4528914"/>
            <a:ext cx="8176022" cy="131266"/>
          </a:xfrm>
          <a:prstGeom prst="rect">
            <a:avLst/>
          </a:prstGeom>
          <a:noFill/>
        </p:spPr>
        <p:txBody>
          <a:bodyPr wrap="none" lIns="0" tIns="0" rIns="0" bIns="0" rtlCol="0" anchor="t"/>
          <a:lstStyle/>
          <a:p>
            <a:pPr marL="0" indent="0" algn="l">
              <a:lnSpc>
                <a:spcPct val="107000"/>
              </a:lnSpc>
              <a:buNone/>
            </a:pPr>
            <a:r>
              <a:rPr lang="en-US" sz="800" b="1" dirty="0">
                <a:solidFill>
                  <a:srgbClr val="000000"/>
                </a:solidFill>
                <a:latin typeface="Roboto Bold" panose="02000000000000000000" pitchFamily="34" charset="0"/>
                <a:ea typeface="Roboto Bold" panose="02000000000000000000" pitchFamily="34" charset="-122"/>
                <a:cs typeface="Roboto Bold" panose="02000000000000000000" pitchFamily="34" charset="-120"/>
              </a:rPr>
              <a:t>Highlight:</a:t>
            </a:r>
            <a:r>
              <a:rPr lang="en-US" sz="800" dirty="0">
                <a:solidFill>
                  <a:srgbClr val="000000"/>
                </a:solidFill>
                <a:latin typeface="Roboto" panose="02000000000000000000" pitchFamily="34" charset="0"/>
                <a:ea typeface="Roboto" panose="02000000000000000000" pitchFamily="34" charset="-122"/>
                <a:cs typeface="Roboto" panose="02000000000000000000" pitchFamily="34" charset="-120"/>
              </a:rPr>
              <a:t> Train/test splitting must respect video/session boundaries when frames are highly correlated.</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443508"/>
            <a:ext cx="8151763" cy="387548"/>
          </a:xfrm>
          <a:prstGeom prst="rect">
            <a:avLst/>
          </a:prstGeom>
          <a:noFill/>
        </p:spPr>
        <p:txBody>
          <a:bodyPr wrap="none" lIns="0" tIns="0" rIns="0" bIns="0" rtlCol="0" anchor="t"/>
          <a:lstStyle/>
          <a:p>
            <a:pPr marL="0" indent="0" algn="l">
              <a:lnSpc>
                <a:spcPct val="104000"/>
              </a:lnSpc>
              <a:buNone/>
            </a:pPr>
            <a:r>
              <a:rPr lang="en-US" sz="2400" dirty="0">
                <a:solidFill>
                  <a:srgbClr val="2E3C4E"/>
                </a:solidFill>
                <a:latin typeface="Host Grotesk Medium" panose="020B0504030402000203" pitchFamily="34" charset="0"/>
                <a:ea typeface="Host Grotesk Medium" panose="020B0504030402000203" pitchFamily="34" charset="-122"/>
                <a:cs typeface="Host Grotesk Medium" panose="020B0504030402000203" pitchFamily="34" charset="-120"/>
              </a:rPr>
              <a:t>Evaluation, Expected Outcome &amp; Next Steps</a:t>
            </a:r>
            <a:endParaRPr lang="en-US" sz="2400" dirty="0"/>
          </a:p>
        </p:txBody>
      </p:sp>
      <p:sp>
        <p:nvSpPr>
          <p:cNvPr id="3" name="Text 1"/>
          <p:cNvSpPr/>
          <p:nvPr/>
        </p:nvSpPr>
        <p:spPr>
          <a:xfrm>
            <a:off x="496119" y="1102296"/>
            <a:ext cx="3924598" cy="193849"/>
          </a:xfrm>
          <a:prstGeom prst="rect">
            <a:avLst/>
          </a:prstGeom>
          <a:noFill/>
        </p:spPr>
        <p:txBody>
          <a:bodyPr wrap="none" lIns="0" tIns="0" rIns="0" bIns="0" rtlCol="0" anchor="t"/>
          <a:lstStyle/>
          <a:p>
            <a:pPr marL="0" indent="0" algn="l">
              <a:lnSpc>
                <a:spcPct val="104000"/>
              </a:lnSpc>
              <a:buNone/>
            </a:pPr>
            <a:r>
              <a:rPr lang="en-US" sz="1200" dirty="0">
                <a:solidFill>
                  <a:srgbClr val="2E3C4E"/>
                </a:solidFill>
                <a:latin typeface="Host Grotesk Medium" panose="020B0504030402000203" pitchFamily="34" charset="0"/>
                <a:ea typeface="Host Grotesk Medium" panose="020B0504030402000203" pitchFamily="34" charset="-122"/>
                <a:cs typeface="Host Grotesk Medium" panose="020B0504030402000203" pitchFamily="34" charset="-120"/>
              </a:rPr>
              <a:t>Evaluation</a:t>
            </a:r>
            <a:endParaRPr lang="en-US" sz="1200" dirty="0"/>
          </a:p>
        </p:txBody>
      </p:sp>
      <p:sp>
        <p:nvSpPr>
          <p:cNvPr id="4" name="Text 2"/>
          <p:cNvSpPr/>
          <p:nvPr/>
        </p:nvSpPr>
        <p:spPr>
          <a:xfrm>
            <a:off x="496119" y="1404640"/>
            <a:ext cx="4381798" cy="174427"/>
          </a:xfrm>
          <a:prstGeom prst="rect">
            <a:avLst/>
          </a:prstGeom>
          <a:noFill/>
        </p:spPr>
        <p:txBody>
          <a:bodyPr wrap="none" lIns="0" tIns="0" rIns="0" bIns="0" rtlCol="0" anchor="t"/>
          <a:lstStyle/>
          <a:p>
            <a:pPr marL="0" indent="0" algn="l">
              <a:lnSpc>
                <a:spcPct val="117000"/>
              </a:lnSpc>
              <a:buNone/>
            </a:pPr>
            <a:r>
              <a:rPr lang="en-US" sz="950" b="1" dirty="0">
                <a:solidFill>
                  <a:srgbClr val="384653"/>
                </a:solidFill>
                <a:latin typeface="Roboto Bold" panose="02000000000000000000" pitchFamily="34" charset="0"/>
                <a:ea typeface="Roboto Bold" panose="02000000000000000000" pitchFamily="34" charset="-122"/>
                <a:cs typeface="Roboto Bold" panose="02000000000000000000" pitchFamily="34" charset="-120"/>
              </a:rPr>
              <a:t>Primary:</a:t>
            </a:r>
            <a:endParaRPr lang="en-US" sz="950" dirty="0"/>
          </a:p>
        </p:txBody>
      </p:sp>
      <p:sp>
        <p:nvSpPr>
          <p:cNvPr id="5" name="Text 3"/>
          <p:cNvSpPr/>
          <p:nvPr/>
        </p:nvSpPr>
        <p:spPr>
          <a:xfrm>
            <a:off x="496119" y="1676698"/>
            <a:ext cx="3924598" cy="386804"/>
          </a:xfrm>
          <a:prstGeom prst="rect">
            <a:avLst/>
          </a:prstGeom>
          <a:noFill/>
        </p:spPr>
        <p:txBody>
          <a:bodyPr wrap="square" lIns="0" tIns="49619" rIns="0" bIns="0" rtlCol="0" anchor="t">
            <a:normAutofit/>
          </a:bodyPr>
          <a:lstStyle/>
          <a:p>
            <a:pPr marL="193040" indent="-193040" algn="l">
              <a:lnSpc>
                <a:spcPct val="117000"/>
              </a:lnSpc>
              <a:buSzPct val="100000"/>
              <a:buChar char="•"/>
            </a:pPr>
            <a:r>
              <a:rPr lang="en-US" sz="950" dirty="0">
                <a:solidFill>
                  <a:srgbClr val="384653"/>
                </a:solidFill>
                <a:latin typeface="Roboto" panose="02000000000000000000" pitchFamily="34" charset="0"/>
                <a:ea typeface="Roboto" panose="02000000000000000000" pitchFamily="34" charset="-122"/>
                <a:cs typeface="Roboto" panose="02000000000000000000" pitchFamily="34" charset="-120"/>
              </a:rPr>
              <a:t>Decoded-message correctness</a:t>
            </a:r>
            <a:endParaRPr lang="en-US" sz="950" dirty="0"/>
          </a:p>
          <a:p>
            <a:pPr marL="193040" indent="-193040" algn="l">
              <a:lnSpc>
                <a:spcPct val="117000"/>
              </a:lnSpc>
              <a:buSzPct val="100000"/>
              <a:buChar char="•"/>
            </a:pPr>
            <a:r>
              <a:rPr lang="en-US" sz="950" dirty="0">
                <a:solidFill>
                  <a:srgbClr val="384653"/>
                </a:solidFill>
                <a:latin typeface="Roboto" panose="02000000000000000000" pitchFamily="34" charset="0"/>
                <a:ea typeface="Roboto" panose="02000000000000000000" pitchFamily="34" charset="-122"/>
                <a:cs typeface="Roboto" panose="02000000000000000000" pitchFamily="34" charset="-120"/>
              </a:rPr>
              <a:t>Bit Error Rate (BER)</a:t>
            </a:r>
            <a:endParaRPr lang="en-US" sz="950" dirty="0"/>
          </a:p>
        </p:txBody>
      </p:sp>
      <p:sp>
        <p:nvSpPr>
          <p:cNvPr id="6" name="Text 4"/>
          <p:cNvSpPr/>
          <p:nvPr/>
        </p:nvSpPr>
        <p:spPr>
          <a:xfrm>
            <a:off x="496119" y="2161133"/>
            <a:ext cx="4381798" cy="174427"/>
          </a:xfrm>
          <a:prstGeom prst="rect">
            <a:avLst/>
          </a:prstGeom>
          <a:noFill/>
        </p:spPr>
        <p:txBody>
          <a:bodyPr wrap="none" lIns="0" tIns="0" rIns="0" bIns="0" rtlCol="0" anchor="t"/>
          <a:lstStyle/>
          <a:p>
            <a:pPr marL="0" indent="0" algn="l">
              <a:lnSpc>
                <a:spcPct val="117000"/>
              </a:lnSpc>
              <a:buNone/>
            </a:pPr>
            <a:r>
              <a:rPr lang="en-US" sz="950" b="1" dirty="0">
                <a:solidFill>
                  <a:srgbClr val="384653"/>
                </a:solidFill>
                <a:latin typeface="Roboto Bold" panose="02000000000000000000" pitchFamily="34" charset="0"/>
                <a:ea typeface="Roboto Bold" panose="02000000000000000000" pitchFamily="34" charset="-122"/>
                <a:cs typeface="Roboto Bold" panose="02000000000000000000" pitchFamily="34" charset="-120"/>
              </a:rPr>
              <a:t>Additional:</a:t>
            </a:r>
            <a:endParaRPr lang="en-US" sz="950" dirty="0"/>
          </a:p>
        </p:txBody>
      </p:sp>
      <p:sp>
        <p:nvSpPr>
          <p:cNvPr id="7" name="Text 5"/>
          <p:cNvSpPr/>
          <p:nvPr/>
        </p:nvSpPr>
        <p:spPr>
          <a:xfrm>
            <a:off x="496119" y="2433191"/>
            <a:ext cx="3924598" cy="1236315"/>
          </a:xfrm>
          <a:prstGeom prst="rect">
            <a:avLst/>
          </a:prstGeom>
          <a:noFill/>
        </p:spPr>
        <p:txBody>
          <a:bodyPr wrap="square" lIns="0" tIns="49619" rIns="0" bIns="0" rtlCol="0" anchor="t">
            <a:normAutofit/>
          </a:bodyPr>
          <a:lstStyle/>
          <a:p>
            <a:pPr marL="193040" indent="-193040" algn="l">
              <a:lnSpc>
                <a:spcPct val="117000"/>
              </a:lnSpc>
              <a:buSzPct val="100000"/>
              <a:buChar char="•"/>
            </a:pPr>
            <a:r>
              <a:rPr lang="en-US" sz="950" dirty="0">
                <a:solidFill>
                  <a:srgbClr val="384653"/>
                </a:solidFill>
                <a:latin typeface="Roboto" panose="02000000000000000000" pitchFamily="34" charset="0"/>
                <a:ea typeface="Roboto" panose="02000000000000000000" pitchFamily="34" charset="-122"/>
                <a:cs typeface="Roboto" panose="02000000000000000000" pitchFamily="34" charset="-120"/>
              </a:rPr>
              <a:t>Synchronization robustness</a:t>
            </a:r>
            <a:endParaRPr lang="en-US" sz="950" dirty="0"/>
          </a:p>
          <a:p>
            <a:pPr marL="193040" indent="-193040" algn="l">
              <a:lnSpc>
                <a:spcPct val="117000"/>
              </a:lnSpc>
              <a:buSzPct val="100000"/>
              <a:buChar char="•"/>
            </a:pPr>
            <a:r>
              <a:rPr lang="en-US" sz="950" dirty="0">
                <a:solidFill>
                  <a:srgbClr val="384653"/>
                </a:solidFill>
                <a:latin typeface="Roboto" panose="02000000000000000000" pitchFamily="34" charset="0"/>
                <a:ea typeface="Roboto" panose="02000000000000000000" pitchFamily="34" charset="-122"/>
                <a:cs typeface="Roboto" panose="02000000000000000000" pitchFamily="34" charset="-120"/>
              </a:rPr>
              <a:t>Precision / Recall / F1 for supervised ML</a:t>
            </a:r>
            <a:endParaRPr lang="en-US" sz="950" dirty="0"/>
          </a:p>
          <a:p>
            <a:pPr marL="193040" indent="-193040" algn="l">
              <a:lnSpc>
                <a:spcPct val="117000"/>
              </a:lnSpc>
              <a:buSzPct val="100000"/>
              <a:buChar char="•"/>
            </a:pPr>
            <a:r>
              <a:rPr lang="en-US" sz="950" dirty="0">
                <a:solidFill>
                  <a:srgbClr val="384653"/>
                </a:solidFill>
                <a:latin typeface="Roboto" panose="02000000000000000000" pitchFamily="34" charset="0"/>
                <a:ea typeface="Roboto" panose="02000000000000000000" pitchFamily="34" charset="-122"/>
                <a:cs typeface="Roboto" panose="02000000000000000000" pitchFamily="34" charset="-120"/>
              </a:rPr>
              <a:t>Confusion matrix</a:t>
            </a:r>
            <a:endParaRPr lang="en-US" sz="950" dirty="0"/>
          </a:p>
          <a:p>
            <a:pPr marL="193040" indent="-193040" algn="l">
              <a:lnSpc>
                <a:spcPct val="117000"/>
              </a:lnSpc>
              <a:buSzPct val="100000"/>
              <a:buChar char="•"/>
            </a:pPr>
            <a:r>
              <a:rPr lang="en-US" sz="950" dirty="0">
                <a:solidFill>
                  <a:srgbClr val="384653"/>
                </a:solidFill>
                <a:latin typeface="Roboto" panose="02000000000000000000" pitchFamily="34" charset="0"/>
                <a:ea typeface="Roboto" panose="02000000000000000000" pitchFamily="34" charset="-122"/>
                <a:cs typeface="Roboto" panose="02000000000000000000" pitchFamily="34" charset="-120"/>
              </a:rPr>
              <a:t>Processing time</a:t>
            </a:r>
            <a:endParaRPr lang="en-US" sz="950" dirty="0"/>
          </a:p>
          <a:p>
            <a:pPr marL="193040" indent="-193040" algn="l">
              <a:lnSpc>
                <a:spcPct val="117000"/>
              </a:lnSpc>
              <a:buSzPct val="100000"/>
              <a:buChar char="•"/>
            </a:pPr>
            <a:r>
              <a:rPr lang="en-US" sz="950" dirty="0">
                <a:solidFill>
                  <a:srgbClr val="384653"/>
                </a:solidFill>
                <a:latin typeface="Roboto" panose="02000000000000000000" pitchFamily="34" charset="0"/>
                <a:ea typeface="Roboto" panose="02000000000000000000" pitchFamily="34" charset="-122"/>
                <a:cs typeface="Roboto" panose="02000000000000000000" pitchFamily="34" charset="-120"/>
              </a:rPr>
              <a:t>Sensitivity to ROI, smoothing, threshold and timing</a:t>
            </a:r>
            <a:endParaRPr lang="en-US" sz="950" dirty="0"/>
          </a:p>
          <a:p>
            <a:pPr marL="193040" indent="-193040" algn="l">
              <a:lnSpc>
                <a:spcPct val="117000"/>
              </a:lnSpc>
              <a:buSzPct val="100000"/>
              <a:buChar char="•"/>
            </a:pPr>
            <a:r>
              <a:rPr lang="en-US" sz="950" dirty="0">
                <a:solidFill>
                  <a:srgbClr val="384653"/>
                </a:solidFill>
                <a:latin typeface="Roboto" panose="02000000000000000000" pitchFamily="34" charset="0"/>
                <a:ea typeface="Roboto" panose="02000000000000000000" pitchFamily="34" charset="-122"/>
                <a:cs typeface="Roboto" panose="02000000000000000000" pitchFamily="34" charset="-120"/>
              </a:rPr>
              <a:t>Failure-case analysis</a:t>
            </a:r>
            <a:endParaRPr lang="en-US" sz="950" dirty="0"/>
          </a:p>
        </p:txBody>
      </p:sp>
      <p:sp>
        <p:nvSpPr>
          <p:cNvPr id="8" name="Shape 6"/>
          <p:cNvSpPr/>
          <p:nvPr/>
        </p:nvSpPr>
        <p:spPr>
          <a:xfrm>
            <a:off x="4638749" y="993800"/>
            <a:ext cx="4103191" cy="3141613"/>
          </a:xfrm>
          <a:prstGeom prst="roundRect">
            <a:avLst>
              <a:gd name="adj" fmla="val 2843"/>
            </a:avLst>
          </a:prstGeom>
          <a:solidFill>
            <a:srgbClr val="95CCDA"/>
          </a:solidFill>
        </p:spPr>
      </p:sp>
      <p:sp>
        <p:nvSpPr>
          <p:cNvPr id="9" name="Text 7"/>
          <p:cNvSpPr/>
          <p:nvPr/>
        </p:nvSpPr>
        <p:spPr>
          <a:xfrm>
            <a:off x="4762723" y="1102296"/>
            <a:ext cx="3855244" cy="193849"/>
          </a:xfrm>
          <a:prstGeom prst="rect">
            <a:avLst/>
          </a:prstGeom>
          <a:noFill/>
        </p:spPr>
        <p:txBody>
          <a:bodyPr wrap="none" lIns="0" tIns="0" rIns="0" bIns="0" rtlCol="0" anchor="t"/>
          <a:lstStyle/>
          <a:p>
            <a:pPr marL="0" indent="0" algn="l">
              <a:lnSpc>
                <a:spcPct val="104000"/>
              </a:lnSpc>
              <a:buNone/>
            </a:pPr>
            <a:r>
              <a:rPr lang="en-US" sz="1200" dirty="0">
                <a:solidFill>
                  <a:srgbClr val="2E3C4E"/>
                </a:solidFill>
                <a:latin typeface="Host Grotesk Medium" panose="020B0504030402000203" pitchFamily="34" charset="0"/>
                <a:ea typeface="Host Grotesk Medium" panose="020B0504030402000203" pitchFamily="34" charset="-122"/>
                <a:cs typeface="Host Grotesk Medium" panose="020B0504030402000203" pitchFamily="34" charset="-120"/>
              </a:rPr>
              <a:t>Expected Outcome</a:t>
            </a:r>
            <a:endParaRPr lang="en-US" sz="1200" dirty="0"/>
          </a:p>
        </p:txBody>
      </p:sp>
      <p:sp>
        <p:nvSpPr>
          <p:cNvPr id="10" name="Text 8"/>
          <p:cNvSpPr/>
          <p:nvPr/>
        </p:nvSpPr>
        <p:spPr>
          <a:xfrm>
            <a:off x="4762723" y="1404640"/>
            <a:ext cx="3855244" cy="620911"/>
          </a:xfrm>
          <a:prstGeom prst="rect">
            <a:avLst/>
          </a:prstGeom>
          <a:noFill/>
        </p:spPr>
        <p:txBody>
          <a:bodyPr wrap="square" lIns="0" tIns="0" rIns="0" bIns="0" rtlCol="0" anchor="t"/>
          <a:lstStyle/>
          <a:p>
            <a:pPr marL="0" indent="0" algn="l">
              <a:lnSpc>
                <a:spcPct val="117000"/>
              </a:lnSpc>
              <a:spcAft>
                <a:spcPts val="750"/>
              </a:spcAft>
              <a:buNone/>
            </a:pPr>
            <a:r>
              <a:rPr lang="en-US" sz="950" dirty="0">
                <a:solidFill>
                  <a:srgbClr val="000000"/>
                </a:solidFill>
                <a:latin typeface="Roboto" panose="02000000000000000000" pitchFamily="34" charset="0"/>
                <a:ea typeface="Roboto" panose="02000000000000000000" pitchFamily="34" charset="-122"/>
                <a:cs typeface="Roboto" panose="02000000000000000000" pitchFamily="34" charset="-120"/>
              </a:rPr>
              <a:t>A reproducible pipeline that can:</a:t>
            </a:r>
            <a:endParaRPr lang="en-US" sz="950" dirty="0"/>
          </a:p>
          <a:p>
            <a:pPr marL="0" indent="0" algn="l">
              <a:lnSpc>
                <a:spcPct val="117000"/>
              </a:lnSpc>
              <a:buNone/>
            </a:pPr>
            <a:r>
              <a:rPr lang="en-US" sz="950" dirty="0">
                <a:solidFill>
                  <a:srgbClr val="000000"/>
                </a:solidFill>
                <a:latin typeface="Roboto" panose="02000000000000000000" pitchFamily="34" charset="0"/>
                <a:ea typeface="Roboto" panose="02000000000000000000" pitchFamily="34" charset="-122"/>
                <a:cs typeface="Roboto" panose="02000000000000000000" pitchFamily="34" charset="-120"/>
              </a:rPr>
              <a:t>Input Video → Extract Signal → Synchronize → Decode → Reconstruct Message</a:t>
            </a:r>
            <a:endParaRPr lang="en-US" sz="950" dirty="0"/>
          </a:p>
        </p:txBody>
      </p:sp>
      <p:sp>
        <p:nvSpPr>
          <p:cNvPr id="11" name="Text 9"/>
          <p:cNvSpPr/>
          <p:nvPr/>
        </p:nvSpPr>
        <p:spPr>
          <a:xfrm>
            <a:off x="4762723" y="2134046"/>
            <a:ext cx="3855244" cy="193849"/>
          </a:xfrm>
          <a:prstGeom prst="rect">
            <a:avLst/>
          </a:prstGeom>
          <a:noFill/>
        </p:spPr>
        <p:txBody>
          <a:bodyPr wrap="none" lIns="0" tIns="0" rIns="0" bIns="0" rtlCol="0" anchor="t"/>
          <a:lstStyle/>
          <a:p>
            <a:pPr marL="0" indent="0" algn="l">
              <a:lnSpc>
                <a:spcPct val="104000"/>
              </a:lnSpc>
              <a:buNone/>
            </a:pPr>
            <a:r>
              <a:rPr lang="en-US" sz="1200" dirty="0">
                <a:solidFill>
                  <a:srgbClr val="2E3C4E"/>
                </a:solidFill>
                <a:latin typeface="Host Grotesk Medium" panose="020B0504030402000203" pitchFamily="34" charset="0"/>
                <a:ea typeface="Host Grotesk Medium" panose="020B0504030402000203" pitchFamily="34" charset="-122"/>
                <a:cs typeface="Host Grotesk Medium" panose="020B0504030402000203" pitchFamily="34" charset="-120"/>
              </a:rPr>
              <a:t>Immediate Next Steps</a:t>
            </a:r>
            <a:endParaRPr lang="en-US" sz="1200" dirty="0"/>
          </a:p>
        </p:txBody>
      </p:sp>
      <p:sp>
        <p:nvSpPr>
          <p:cNvPr id="12" name="Text 10"/>
          <p:cNvSpPr/>
          <p:nvPr/>
        </p:nvSpPr>
        <p:spPr>
          <a:xfrm>
            <a:off x="4762723" y="2436391"/>
            <a:ext cx="3855244" cy="1661071"/>
          </a:xfrm>
          <a:prstGeom prst="rect">
            <a:avLst/>
          </a:prstGeom>
          <a:noFill/>
        </p:spPr>
        <p:txBody>
          <a:bodyPr wrap="square" lIns="0" tIns="0" rIns="0" bIns="0" rtlCol="0" anchor="t">
            <a:normAutofit/>
          </a:bodyPr>
          <a:lstStyle/>
          <a:p>
            <a:pPr marL="193040" indent="-193040" algn="l">
              <a:lnSpc>
                <a:spcPct val="117000"/>
              </a:lnSpc>
              <a:buSzPct val="100000"/>
              <a:buFont typeface="+mj-lt"/>
              <a:buAutoNum type="arabicPeriod"/>
            </a:pPr>
            <a:r>
              <a:rPr lang="en-US" sz="950" dirty="0">
                <a:solidFill>
                  <a:srgbClr val="000000"/>
                </a:solidFill>
                <a:latin typeface="Roboto" panose="02000000000000000000" pitchFamily="34" charset="0"/>
                <a:ea typeface="Roboto" panose="02000000000000000000" pitchFamily="34" charset="-122"/>
                <a:cs typeface="Roboto" panose="02000000000000000000" pitchFamily="34" charset="-120"/>
              </a:rPr>
              <a:t>Audit the provided dataset.</a:t>
            </a:r>
            <a:endParaRPr lang="en-US" sz="950" dirty="0"/>
          </a:p>
          <a:p>
            <a:pPr marL="193040" indent="-193040" algn="l">
              <a:lnSpc>
                <a:spcPct val="117000"/>
              </a:lnSpc>
              <a:buSzPct val="100000"/>
              <a:buFont typeface="+mj-lt"/>
              <a:buAutoNum type="arabicPeriod" startAt="2"/>
            </a:pPr>
            <a:r>
              <a:rPr lang="en-US" sz="950" dirty="0">
                <a:solidFill>
                  <a:srgbClr val="000000"/>
                </a:solidFill>
                <a:latin typeface="Roboto" panose="02000000000000000000" pitchFamily="34" charset="0"/>
                <a:ea typeface="Roboto" panose="02000000000000000000" pitchFamily="34" charset="-122"/>
                <a:cs typeface="Roboto" panose="02000000000000000000" pitchFamily="34" charset="-120"/>
              </a:rPr>
              <a:t>Understand video properties and labels.</a:t>
            </a:r>
            <a:endParaRPr lang="en-US" sz="950" dirty="0"/>
          </a:p>
          <a:p>
            <a:pPr marL="193040" indent="-193040" algn="l">
              <a:lnSpc>
                <a:spcPct val="117000"/>
              </a:lnSpc>
              <a:buSzPct val="100000"/>
              <a:buFont typeface="+mj-lt"/>
              <a:buAutoNum type="arabicPeriod" startAt="3"/>
            </a:pPr>
            <a:r>
              <a:rPr lang="en-US" sz="950" dirty="0">
                <a:solidFill>
                  <a:srgbClr val="000000"/>
                </a:solidFill>
                <a:latin typeface="Roboto" panose="02000000000000000000" pitchFamily="34" charset="0"/>
                <a:ea typeface="Roboto" panose="02000000000000000000" pitchFamily="34" charset="-122"/>
                <a:cs typeface="Roboto" panose="02000000000000000000" pitchFamily="34" charset="-120"/>
              </a:rPr>
              <a:t>Extract frames and candidate ROIs.</a:t>
            </a:r>
            <a:endParaRPr lang="en-US" sz="950" dirty="0"/>
          </a:p>
          <a:p>
            <a:pPr marL="193040" indent="-193040" algn="l">
              <a:lnSpc>
                <a:spcPct val="117000"/>
              </a:lnSpc>
              <a:buSzPct val="100000"/>
              <a:buFont typeface="+mj-lt"/>
              <a:buAutoNum type="arabicPeriod" startAt="4"/>
            </a:pPr>
            <a:r>
              <a:rPr lang="en-US" sz="950" dirty="0">
                <a:solidFill>
                  <a:srgbClr val="000000"/>
                </a:solidFill>
                <a:latin typeface="Roboto" panose="02000000000000000000" pitchFamily="34" charset="0"/>
                <a:ea typeface="Roboto" panose="02000000000000000000" pitchFamily="34" charset="-122"/>
                <a:cs typeface="Roboto" panose="02000000000000000000" pitchFamily="34" charset="-120"/>
              </a:rPr>
              <a:t>Plot temporal intensity signals.</a:t>
            </a:r>
            <a:endParaRPr lang="en-US" sz="950" dirty="0"/>
          </a:p>
          <a:p>
            <a:pPr marL="193040" indent="-193040" algn="l">
              <a:lnSpc>
                <a:spcPct val="117000"/>
              </a:lnSpc>
              <a:buSzPct val="100000"/>
              <a:buFont typeface="+mj-lt"/>
              <a:buAutoNum type="arabicPeriod" startAt="5"/>
            </a:pPr>
            <a:r>
              <a:rPr lang="en-US" sz="950" dirty="0">
                <a:solidFill>
                  <a:srgbClr val="000000"/>
                </a:solidFill>
                <a:latin typeface="Roboto" panose="02000000000000000000" pitchFamily="34" charset="0"/>
                <a:ea typeface="Roboto" panose="02000000000000000000" pitchFamily="34" charset="-122"/>
                <a:cs typeface="Roboto" panose="02000000000000000000" pitchFamily="34" charset="-120"/>
              </a:rPr>
              <a:t>Establish the threshold-based baseline.</a:t>
            </a:r>
            <a:endParaRPr lang="en-US" sz="950" dirty="0"/>
          </a:p>
          <a:p>
            <a:pPr marL="193040" indent="-193040" algn="l">
              <a:lnSpc>
                <a:spcPct val="117000"/>
              </a:lnSpc>
              <a:buSzPct val="100000"/>
              <a:buFont typeface="+mj-lt"/>
              <a:buAutoNum type="arabicPeriod" startAt="6"/>
            </a:pPr>
            <a:r>
              <a:rPr lang="en-US" sz="950" dirty="0">
                <a:solidFill>
                  <a:srgbClr val="000000"/>
                </a:solidFill>
                <a:latin typeface="Roboto" panose="02000000000000000000" pitchFamily="34" charset="0"/>
                <a:ea typeface="Roboto" panose="02000000000000000000" pitchFamily="34" charset="-122"/>
                <a:cs typeface="Roboto" panose="02000000000000000000" pitchFamily="34" charset="-120"/>
              </a:rPr>
              <a:t>Experiment with adaptive/signal-processing methods.</a:t>
            </a:r>
            <a:endParaRPr lang="en-US" sz="950" dirty="0"/>
          </a:p>
          <a:p>
            <a:pPr marL="193040" indent="-193040" algn="l">
              <a:lnSpc>
                <a:spcPct val="117000"/>
              </a:lnSpc>
              <a:buSzPct val="100000"/>
              <a:buFont typeface="+mj-lt"/>
              <a:buAutoNum type="arabicPeriod" startAt="7"/>
            </a:pPr>
            <a:r>
              <a:rPr lang="en-US" sz="950" dirty="0">
                <a:solidFill>
                  <a:srgbClr val="000000"/>
                </a:solidFill>
                <a:latin typeface="Roboto" panose="02000000000000000000" pitchFamily="34" charset="0"/>
                <a:ea typeface="Roboto" panose="02000000000000000000" pitchFamily="34" charset="-122"/>
                <a:cs typeface="Roboto" panose="02000000000000000000" pitchFamily="34" charset="-120"/>
              </a:rPr>
              <a:t>Test suitable ML models where justified.</a:t>
            </a:r>
            <a:endParaRPr lang="en-US" sz="950" dirty="0"/>
          </a:p>
          <a:p>
            <a:pPr marL="193040" indent="-193040" algn="l">
              <a:lnSpc>
                <a:spcPct val="117000"/>
              </a:lnSpc>
              <a:buSzPct val="100000"/>
              <a:buFont typeface="+mj-lt"/>
              <a:buAutoNum type="arabicPeriod" startAt="8"/>
            </a:pPr>
            <a:r>
              <a:rPr lang="en-US" sz="950" dirty="0">
                <a:solidFill>
                  <a:srgbClr val="000000"/>
                </a:solidFill>
                <a:latin typeface="Roboto" panose="02000000000000000000" pitchFamily="34" charset="0"/>
                <a:ea typeface="Roboto" panose="02000000000000000000" pitchFamily="34" charset="-122"/>
                <a:cs typeface="Roboto" panose="02000000000000000000" pitchFamily="34" charset="-120"/>
              </a:rPr>
              <a:t>Validate and analyze errors.</a:t>
            </a:r>
            <a:endParaRPr lang="en-US" sz="950" dirty="0"/>
          </a:p>
        </p:txBody>
      </p:sp>
      <p:sp>
        <p:nvSpPr>
          <p:cNvPr id="13" name="Shape 11"/>
          <p:cNvSpPr/>
          <p:nvPr/>
        </p:nvSpPr>
        <p:spPr>
          <a:xfrm>
            <a:off x="496119" y="4257452"/>
            <a:ext cx="8151763" cy="442466"/>
          </a:xfrm>
          <a:prstGeom prst="roundRect">
            <a:avLst>
              <a:gd name="adj" fmla="val 11775"/>
            </a:avLst>
          </a:prstGeom>
          <a:solidFill>
            <a:srgbClr val="D9EDF2"/>
          </a:solidFill>
        </p:spPr>
      </p:sp>
      <p:pic>
        <p:nvPicPr>
          <p:cNvPr id="14" name="Image 0" descr="preencoded.png"/>
          <p:cNvPicPr>
            <a:picLocks noChangeAspect="1"/>
          </p:cNvPicPr>
          <p:nvPr/>
        </p:nvPicPr>
        <p:blipFill>
          <a:blip r:embed="rId1"/>
          <a:stretch>
            <a:fillRect/>
          </a:stretch>
        </p:blipFill>
        <p:spPr>
          <a:xfrm>
            <a:off x="620092" y="4407471"/>
            <a:ext cx="155004" cy="123974"/>
          </a:xfrm>
          <a:prstGeom prst="rect">
            <a:avLst/>
          </a:prstGeom>
        </p:spPr>
      </p:pic>
      <p:sp>
        <p:nvSpPr>
          <p:cNvPr id="15" name="Text 12"/>
          <p:cNvSpPr/>
          <p:nvPr/>
        </p:nvSpPr>
        <p:spPr>
          <a:xfrm>
            <a:off x="899071" y="4396904"/>
            <a:ext cx="8082037" cy="174427"/>
          </a:xfrm>
          <a:prstGeom prst="rect">
            <a:avLst/>
          </a:prstGeom>
          <a:noFill/>
        </p:spPr>
        <p:txBody>
          <a:bodyPr wrap="none" lIns="0" tIns="0" rIns="0" bIns="0" rtlCol="0" anchor="t"/>
          <a:lstStyle/>
          <a:p>
            <a:pPr marL="0" indent="0" algn="l">
              <a:lnSpc>
                <a:spcPct val="117000"/>
              </a:lnSpc>
              <a:buNone/>
            </a:pPr>
            <a:r>
              <a:rPr lang="en-US" sz="950" dirty="0">
                <a:solidFill>
                  <a:srgbClr val="000000"/>
                </a:solidFill>
                <a:latin typeface="Roboto" panose="02000000000000000000" pitchFamily="34" charset="0"/>
                <a:ea typeface="Roboto" panose="02000000000000000000" pitchFamily="34" charset="-122"/>
                <a:cs typeface="Roboto" panose="02000000000000000000" pitchFamily="34" charset="-120"/>
              </a:rPr>
              <a:t>No final model is assumed before data analysis.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1367135"/>
            <a:ext cx="8151763" cy="611386"/>
          </a:xfrm>
          <a:prstGeom prst="rect">
            <a:avLst/>
          </a:prstGeom>
          <a:noFill/>
        </p:spPr>
        <p:txBody>
          <a:bodyPr wrap="none" lIns="0" tIns="0" rIns="0" bIns="0" rtlCol="0" anchor="t"/>
          <a:lstStyle/>
          <a:p>
            <a:pPr marL="0" indent="0" algn="l">
              <a:lnSpc>
                <a:spcPct val="104000"/>
              </a:lnSpc>
              <a:buNone/>
            </a:pPr>
            <a:r>
              <a:rPr lang="en-US" sz="3850" dirty="0">
                <a:solidFill>
                  <a:srgbClr val="2E3C4E"/>
                </a:solidFill>
                <a:latin typeface="Host Grotesk Medium" panose="020B0504030402000203" pitchFamily="34" charset="0"/>
                <a:ea typeface="Host Grotesk Medium" panose="020B0504030402000203" pitchFamily="34" charset="-122"/>
                <a:cs typeface="Host Grotesk Medium" panose="020B0504030402000203" pitchFamily="34" charset="-120"/>
              </a:rPr>
              <a:t>Thank You</a:t>
            </a:r>
            <a:endParaRPr lang="en-US" sz="3850" dirty="0"/>
          </a:p>
        </p:txBody>
      </p:sp>
      <p:sp>
        <p:nvSpPr>
          <p:cNvPr id="3" name="Text 1"/>
          <p:cNvSpPr/>
          <p:nvPr/>
        </p:nvSpPr>
        <p:spPr>
          <a:xfrm>
            <a:off x="496119" y="2191122"/>
            <a:ext cx="8151763" cy="354360"/>
          </a:xfrm>
          <a:prstGeom prst="rect">
            <a:avLst/>
          </a:prstGeom>
          <a:noFill/>
        </p:spPr>
        <p:txBody>
          <a:bodyPr wrap="none" lIns="0" tIns="0" rIns="0" bIns="0" rtlCol="0" anchor="t"/>
          <a:lstStyle/>
          <a:p>
            <a:pPr marL="0" indent="0" algn="l">
              <a:lnSpc>
                <a:spcPct val="104000"/>
              </a:lnSpc>
              <a:buNone/>
            </a:pPr>
            <a:r>
              <a:rPr lang="en-US" sz="2200" dirty="0">
                <a:solidFill>
                  <a:srgbClr val="2E3C4E"/>
                </a:solidFill>
                <a:latin typeface="Host Grotesk Medium" panose="020B0504030402000203" pitchFamily="34" charset="0"/>
                <a:ea typeface="Host Grotesk Medium" panose="020B0504030402000203" pitchFamily="34" charset="-122"/>
                <a:cs typeface="Host Grotesk Medium" panose="020B0504030402000203" pitchFamily="34" charset="-120"/>
              </a:rPr>
              <a:t>Questions &amp; Discussion</a:t>
            </a:r>
            <a:endParaRPr lang="en-US" sz="2200" dirty="0"/>
          </a:p>
        </p:txBody>
      </p:sp>
      <p:sp>
        <p:nvSpPr>
          <p:cNvPr id="4" name="Text 2"/>
          <p:cNvSpPr/>
          <p:nvPr/>
        </p:nvSpPr>
        <p:spPr>
          <a:xfrm>
            <a:off x="496119" y="2602185"/>
            <a:ext cx="8151763" cy="221456"/>
          </a:xfrm>
          <a:prstGeom prst="rect">
            <a:avLst/>
          </a:prstGeom>
          <a:noFill/>
        </p:spPr>
        <p:txBody>
          <a:bodyPr wrap="none" lIns="0" tIns="0" rIns="0" bIns="0" rtlCol="0" anchor="t"/>
          <a:lstStyle/>
          <a:p>
            <a:pPr marL="0" indent="0" algn="l">
              <a:lnSpc>
                <a:spcPct val="104000"/>
              </a:lnSpc>
              <a:buNone/>
            </a:pPr>
            <a:r>
              <a:rPr lang="en-US" sz="1350" dirty="0">
                <a:solidFill>
                  <a:srgbClr val="2E3C4E"/>
                </a:solidFill>
                <a:latin typeface="Host Grotesk Medium" panose="020B0504030402000203" pitchFamily="34" charset="0"/>
                <a:ea typeface="Host Grotesk Medium" panose="020B0504030402000203" pitchFamily="34" charset="-122"/>
                <a:cs typeface="Host Grotesk Medium" panose="020B0504030402000203" pitchFamily="34" charset="-120"/>
              </a:rPr>
              <a:t>Optical Camera Communication (OCC)</a:t>
            </a:r>
            <a:endParaRPr lang="en-US" sz="1350" dirty="0"/>
          </a:p>
        </p:txBody>
      </p:sp>
      <p:sp>
        <p:nvSpPr>
          <p:cNvPr id="5" name="Text 3"/>
          <p:cNvSpPr/>
          <p:nvPr/>
        </p:nvSpPr>
        <p:spPr>
          <a:xfrm>
            <a:off x="496119" y="2880345"/>
            <a:ext cx="8151763" cy="221456"/>
          </a:xfrm>
          <a:prstGeom prst="rect">
            <a:avLst/>
          </a:prstGeom>
          <a:noFill/>
        </p:spPr>
        <p:txBody>
          <a:bodyPr wrap="none" lIns="0" tIns="0" rIns="0" bIns="0" rtlCol="0" anchor="t"/>
          <a:lstStyle/>
          <a:p>
            <a:pPr marL="0" indent="0" algn="l">
              <a:lnSpc>
                <a:spcPct val="104000"/>
              </a:lnSpc>
              <a:buNone/>
            </a:pPr>
            <a:r>
              <a:rPr lang="en-US" sz="1350" dirty="0">
                <a:solidFill>
                  <a:srgbClr val="2E3C4E"/>
                </a:solidFill>
                <a:latin typeface="Host Grotesk Medium" panose="020B0504030402000203" pitchFamily="34" charset="0"/>
                <a:ea typeface="Host Grotesk Medium" panose="020B0504030402000203" pitchFamily="34" charset="-122"/>
                <a:cs typeface="Host Grotesk Medium" panose="020B0504030402000203" pitchFamily="34" charset="-120"/>
              </a:rPr>
              <a:t>Video Message Decoding</a:t>
            </a:r>
            <a:endParaRPr lang="en-US" sz="1350" dirty="0"/>
          </a:p>
        </p:txBody>
      </p:sp>
      <p:sp>
        <p:nvSpPr>
          <p:cNvPr id="6" name="Shape 4"/>
          <p:cNvSpPr/>
          <p:nvPr/>
        </p:nvSpPr>
        <p:spPr>
          <a:xfrm>
            <a:off x="496119" y="3349823"/>
            <a:ext cx="8151763" cy="19050"/>
          </a:xfrm>
          <a:prstGeom prst="roundRect">
            <a:avLst>
              <a:gd name="adj" fmla="val 50000"/>
            </a:avLst>
          </a:prstGeom>
          <a:solidFill>
            <a:srgbClr val="384653">
              <a:alpha val="50000"/>
            </a:srgbClr>
          </a:solidFill>
        </p:spPr>
      </p:sp>
      <p:sp>
        <p:nvSpPr>
          <p:cNvPr id="7" name="Text 5"/>
          <p:cNvSpPr/>
          <p:nvPr/>
        </p:nvSpPr>
        <p:spPr>
          <a:xfrm>
            <a:off x="496119" y="3563764"/>
            <a:ext cx="8608963" cy="212601"/>
          </a:xfrm>
          <a:prstGeom prst="rect">
            <a:avLst/>
          </a:prstGeom>
          <a:noFill/>
        </p:spPr>
        <p:txBody>
          <a:bodyPr wrap="none" lIns="0" tIns="0" rIns="0" bIns="0" rtlCol="0" anchor="t"/>
          <a:lstStyle/>
          <a:p>
            <a:pPr marL="0" indent="0" algn="l">
              <a:lnSpc>
                <a:spcPct val="125000"/>
              </a:lnSpc>
              <a:buNone/>
            </a:pPr>
            <a:r>
              <a:rPr lang="en-US" sz="1100" dirty="0">
                <a:solidFill>
                  <a:srgbClr val="C3643D"/>
                </a:solidFill>
                <a:latin typeface="Roboto" panose="02000000000000000000" pitchFamily="34" charset="0"/>
                <a:ea typeface="Roboto" panose="02000000000000000000" pitchFamily="34" charset="-122"/>
                <a:cs typeface="Roboto" panose="02000000000000000000" pitchFamily="34" charset="-120"/>
              </a:rPr>
              <a:t>TIH, IIT Guwahati | AI/ML Research Project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5597</Words>
  <Application>WPS Presentation</Application>
  <PresentationFormat>On-screen Show (16:9)</PresentationFormat>
  <Paragraphs>321</Paragraphs>
  <Slides>9</Slides>
  <Notes>9</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9</vt:i4>
      </vt:variant>
    </vt:vector>
  </HeadingPairs>
  <TitlesOfParts>
    <vt:vector size="26" baseType="lpstr">
      <vt:lpstr>Arial</vt:lpstr>
      <vt:lpstr>SimSun</vt:lpstr>
      <vt:lpstr>Wingdings</vt:lpstr>
      <vt:lpstr>Host Grotesk Medium</vt:lpstr>
      <vt:lpstr>Host Grotesk Medium</vt:lpstr>
      <vt:lpstr>Host Grotesk Medium</vt:lpstr>
      <vt:lpstr>Roboto</vt:lpstr>
      <vt:lpstr>Roboto</vt:lpstr>
      <vt:lpstr>Roboto</vt:lpstr>
      <vt:lpstr>Roboto Bold</vt:lpstr>
      <vt:lpstr>Roboto Bold</vt:lpstr>
      <vt:lpstr>Roboto Bold</vt:lpstr>
      <vt:lpstr>Calibri</vt:lpstr>
      <vt:lpstr>Microsoft YaHei</vt:lpstr>
      <vt:lpstr>Arial Unicode MS</vt:lpstr>
      <vt:lpstr>Calibri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KASIREDDY SANTHOSH REDDY</cp:lastModifiedBy>
  <cp:revision>2</cp:revision>
  <dcterms:created xsi:type="dcterms:W3CDTF">2026-08-15T13:04:00Z</dcterms:created>
  <dcterms:modified xsi:type="dcterms:W3CDTF">2026-09-16T04:10:13Z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9933B1ED787E40229F2BA6DE4551CA07_12</vt:lpwstr>
  </property>
  <property fmtid="{D5CDD505-2E9C-101B-9397-08002B2CF9AE}" pid="3" name="KSOProductBuildVer">
    <vt:lpwstr>1033-12.1.0.28485</vt:lpwstr>
  </property>
</Properties>
</file>